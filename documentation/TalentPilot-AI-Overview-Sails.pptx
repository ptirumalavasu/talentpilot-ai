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1000"/>
            <a:lum/>
          </a:blip>
          <a:srcRect/>
          <a:stretch>
            <a:fillRect/>
          </a:stretch>
        </a:blipFill>
        <a:effectLst/>
      </p:bgPr>
    </p:bg>
    <p:spTree>
      <p:nvGrpSpPr>
        <p:cNvPr id="1" name=""/>
        <p:cNvGrpSpPr/>
        <p:nvPr/>
      </p:nvGrpSpPr>
      <p:grpSpPr/>
      <p:pic>
        <p:nvPicPr>
          <p:cNvPr id="2" name="Picture 1" descr="sails_logo.png"/>
          <p:cNvPicPr>
            <a:picLocks noChangeAspect="1"/>
          </p:cNvPicPr>
          <p:nvPr/>
        </p:nvPicPr>
        <p:blipFill>
          <a:blip r:embed="rId3"/>
          <a:stretch>
            <a:fillRect/>
          </a:stretch>
        </p:blipFill>
        <p:spPr>
          <a:xfrm>
            <a:off x="640080" y="502920"/>
            <a:ext cx="1828800" cy="777240"/>
          </a:xfrm>
          <a:prstGeom prst="rect">
            <a:avLst/>
          </a:prstGeom>
        </p:spPr>
      </p:pic>
      <p:sp>
        <p:nvSpPr>
          <p:cNvPr id="3" name="Rectangle 2"/>
          <p:cNvSpPr/>
          <p:nvPr/>
        </p:nvSpPr>
        <p:spPr>
          <a:xfrm>
            <a:off x="0" y="598932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554480"/>
            <a:ext cx="8229600" cy="365760"/>
          </a:xfrm>
          <a:prstGeom prst="rect">
            <a:avLst/>
          </a:prstGeom>
          <a:noFill/>
        </p:spPr>
        <p:txBody>
          <a:bodyPr wrap="square" anchor="t" lIns="0" rIns="0" tIns="0" bIns="0">
            <a:spAutoFit/>
          </a:bodyPr>
          <a:lstStyle/>
          <a:p>
            <a:pPr algn="l">
              <a:lnSpc>
                <a:spcPct val="100000"/>
              </a:lnSpc>
            </a:pPr>
            <a:r>
              <a:rPr sz="1300" b="1" i="0">
                <a:solidFill>
                  <a:srgbClr val="1B5442"/>
                </a:solidFill>
                <a:latin typeface="Calibri"/>
              </a:rPr>
              <a:t>SAILS SOFTWARE · INTERNAL PILOT DOCUMENTATION</a:t>
            </a:r>
          </a:p>
        </p:txBody>
      </p:sp>
      <p:sp>
        <p:nvSpPr>
          <p:cNvPr id="5" name="TextBox 4"/>
          <p:cNvSpPr txBox="1"/>
          <p:nvPr/>
        </p:nvSpPr>
        <p:spPr>
          <a:xfrm>
            <a:off x="658368" y="2057400"/>
            <a:ext cx="10515600" cy="1188720"/>
          </a:xfrm>
          <a:prstGeom prst="rect">
            <a:avLst/>
          </a:prstGeom>
          <a:noFill/>
        </p:spPr>
        <p:txBody>
          <a:bodyPr wrap="square" anchor="t" lIns="0" rIns="0" tIns="0" bIns="0">
            <a:spAutoFit/>
          </a:bodyPr>
          <a:lstStyle/>
          <a:p>
            <a:pPr algn="l">
              <a:lnSpc>
                <a:spcPct val="100000"/>
              </a:lnSpc>
            </a:pPr>
            <a:r>
              <a:rPr sz="5400" b="1" i="0">
                <a:solidFill>
                  <a:srgbClr val="123D30"/>
                </a:solidFill>
                <a:latin typeface="Georgia"/>
              </a:rPr>
              <a:t>TalentPilot-AI</a:t>
            </a:r>
          </a:p>
        </p:txBody>
      </p:sp>
      <p:sp>
        <p:nvSpPr>
          <p:cNvPr id="6" name="TextBox 5"/>
          <p:cNvSpPr txBox="1"/>
          <p:nvPr/>
        </p:nvSpPr>
        <p:spPr>
          <a:xfrm>
            <a:off x="685800" y="3154680"/>
            <a:ext cx="8686800" cy="914400"/>
          </a:xfrm>
          <a:prstGeom prst="rect">
            <a:avLst/>
          </a:prstGeom>
          <a:noFill/>
        </p:spPr>
        <p:txBody>
          <a:bodyPr wrap="square" anchor="t" lIns="0" rIns="0" tIns="0" bIns="0">
            <a:spAutoFit/>
          </a:bodyPr>
          <a:lstStyle/>
          <a:p>
            <a:pPr algn="l">
              <a:lnSpc>
                <a:spcPct val="120000"/>
              </a:lnSpc>
            </a:pPr>
            <a:r>
              <a:rPr sz="1900" b="0" i="0">
                <a:solidFill>
                  <a:srgbClr val="222A24"/>
                </a:solidFill>
                <a:latin typeface="Calibri"/>
              </a:rPr>
              <a:t>Replacing spreadsheet self-reporting with automatic,</a:t>
            </a:r>
          </a:p>
          <a:p>
            <a:pPr algn="l">
              <a:lnSpc>
                <a:spcPct val="120000"/>
              </a:lnSpc>
            </a:pPr>
            <a:r>
              <a:rPr sz="1900" b="0" i="0">
                <a:solidFill>
                  <a:srgbClr val="222A24"/>
                </a:solidFill>
                <a:latin typeface="Calibri"/>
              </a:rPr>
              <a:t>trustworthy skill-readiness tracking.</a:t>
            </a:r>
          </a:p>
        </p:txBody>
      </p:sp>
      <p:sp>
        <p:nvSpPr>
          <p:cNvPr id="7" name="TextBox 6"/>
          <p:cNvSpPr txBox="1"/>
          <p:nvPr/>
        </p:nvSpPr>
        <p:spPr>
          <a:xfrm>
            <a:off x="685800" y="4251960"/>
            <a:ext cx="9144000" cy="365760"/>
          </a:xfrm>
          <a:prstGeom prst="rect">
            <a:avLst/>
          </a:prstGeom>
          <a:noFill/>
        </p:spPr>
        <p:txBody>
          <a:bodyPr wrap="square" anchor="t" lIns="0" rIns="0" tIns="0" bIns="0">
            <a:spAutoFit/>
          </a:bodyPr>
          <a:lstStyle/>
          <a:p>
            <a:pPr algn="l">
              <a:lnSpc>
                <a:spcPct val="100000"/>
              </a:lnSpc>
            </a:pPr>
            <a:r>
              <a:rPr sz="1200" b="1" i="0">
                <a:solidFill>
                  <a:srgbClr val="8A6618"/>
                </a:solidFill>
                <a:latin typeface="Calibri"/>
              </a:rPr>
              <a:t>PROBLEM  ·  SOLUTION  ·  REQUIREMENTS  ·  ARCHITECTURE  ·  BMAD WORKFLOW</a:t>
            </a:r>
          </a:p>
        </p:txBody>
      </p:sp>
      <p:sp>
        <p:nvSpPr>
          <p:cNvPr id="8" name="TextBox 7"/>
          <p:cNvSpPr txBox="1"/>
          <p:nvPr/>
        </p:nvSpPr>
        <p:spPr>
          <a:xfrm>
            <a:off x="685800" y="6172200"/>
            <a:ext cx="2560320" cy="228600"/>
          </a:xfrm>
          <a:prstGeom prst="rect">
            <a:avLst/>
          </a:prstGeom>
          <a:noFill/>
        </p:spPr>
        <p:txBody>
          <a:bodyPr wrap="square" anchor="t" lIns="0" rIns="0" tIns="0" bIns="0">
            <a:spAutoFit/>
          </a:bodyPr>
          <a:lstStyle/>
          <a:p>
            <a:pPr algn="l">
              <a:lnSpc>
                <a:spcPct val="100000"/>
              </a:lnSpc>
            </a:pPr>
            <a:r>
              <a:rPr sz="1000" b="1" i="0">
                <a:solidFill>
                  <a:srgbClr val="4FB093"/>
                </a:solidFill>
                <a:latin typeface="Calibri"/>
              </a:rPr>
              <a:t>STATUS</a:t>
            </a:r>
          </a:p>
        </p:txBody>
      </p:sp>
      <p:sp>
        <p:nvSpPr>
          <p:cNvPr id="9" name="TextBox 8"/>
          <p:cNvSpPr txBox="1"/>
          <p:nvPr/>
        </p:nvSpPr>
        <p:spPr>
          <a:xfrm>
            <a:off x="685800" y="6382512"/>
            <a:ext cx="2651760" cy="320040"/>
          </a:xfrm>
          <a:prstGeom prst="rect">
            <a:avLst/>
          </a:prstGeom>
          <a:noFill/>
        </p:spPr>
        <p:txBody>
          <a:bodyPr wrap="square" anchor="t" lIns="0" rIns="0" tIns="0" bIns="0">
            <a:spAutoFit/>
          </a:bodyPr>
          <a:lstStyle/>
          <a:p>
            <a:pPr algn="l">
              <a:lnSpc>
                <a:spcPct val="100000"/>
              </a:lnSpc>
            </a:pPr>
            <a:r>
              <a:rPr sz="1150" b="0" i="0">
                <a:solidFill>
                  <a:srgbClr val="123D30"/>
                </a:solidFill>
                <a:latin typeface="Calibri"/>
              </a:rPr>
              <a:t>PRD &amp; Architecture — Final</a:t>
            </a:r>
          </a:p>
        </p:txBody>
      </p:sp>
      <p:sp>
        <p:nvSpPr>
          <p:cNvPr id="10" name="TextBox 9"/>
          <p:cNvSpPr txBox="1"/>
          <p:nvPr/>
        </p:nvSpPr>
        <p:spPr>
          <a:xfrm>
            <a:off x="3429000" y="6172200"/>
            <a:ext cx="2560320" cy="228600"/>
          </a:xfrm>
          <a:prstGeom prst="rect">
            <a:avLst/>
          </a:prstGeom>
          <a:noFill/>
        </p:spPr>
        <p:txBody>
          <a:bodyPr wrap="square" anchor="t" lIns="0" rIns="0" tIns="0" bIns="0">
            <a:spAutoFit/>
          </a:bodyPr>
          <a:lstStyle/>
          <a:p>
            <a:pPr algn="l">
              <a:lnSpc>
                <a:spcPct val="100000"/>
              </a:lnSpc>
            </a:pPr>
            <a:r>
              <a:rPr sz="1000" b="1" i="0">
                <a:solidFill>
                  <a:srgbClr val="4FB093"/>
                </a:solidFill>
                <a:latin typeface="Calibri"/>
              </a:rPr>
              <a:t>BUILD SCOPE</a:t>
            </a:r>
          </a:p>
        </p:txBody>
      </p:sp>
      <p:sp>
        <p:nvSpPr>
          <p:cNvPr id="11" name="TextBox 10"/>
          <p:cNvSpPr txBox="1"/>
          <p:nvPr/>
        </p:nvSpPr>
        <p:spPr>
          <a:xfrm>
            <a:off x="3429000" y="6382512"/>
            <a:ext cx="2651760" cy="320040"/>
          </a:xfrm>
          <a:prstGeom prst="rect">
            <a:avLst/>
          </a:prstGeom>
          <a:noFill/>
        </p:spPr>
        <p:txBody>
          <a:bodyPr wrap="square" anchor="t" lIns="0" rIns="0" tIns="0" bIns="0">
            <a:spAutoFit/>
          </a:bodyPr>
          <a:lstStyle/>
          <a:p>
            <a:pPr algn="l">
              <a:lnSpc>
                <a:spcPct val="100000"/>
              </a:lnSpc>
            </a:pPr>
            <a:r>
              <a:rPr sz="1150" b="0" i="0">
                <a:solidFill>
                  <a:srgbClr val="123D30"/>
                </a:solidFill>
                <a:latin typeface="Calibri"/>
              </a:rPr>
              <a:t>Local pilot, zero budget</a:t>
            </a:r>
          </a:p>
        </p:txBody>
      </p:sp>
      <p:sp>
        <p:nvSpPr>
          <p:cNvPr id="12" name="TextBox 11"/>
          <p:cNvSpPr txBox="1"/>
          <p:nvPr/>
        </p:nvSpPr>
        <p:spPr>
          <a:xfrm>
            <a:off x="6172200" y="6172200"/>
            <a:ext cx="2560320" cy="228600"/>
          </a:xfrm>
          <a:prstGeom prst="rect">
            <a:avLst/>
          </a:prstGeom>
          <a:noFill/>
        </p:spPr>
        <p:txBody>
          <a:bodyPr wrap="square" anchor="t" lIns="0" rIns="0" tIns="0" bIns="0">
            <a:spAutoFit/>
          </a:bodyPr>
          <a:lstStyle/>
          <a:p>
            <a:pPr algn="l">
              <a:lnSpc>
                <a:spcPct val="100000"/>
              </a:lnSpc>
            </a:pPr>
            <a:r>
              <a:rPr sz="1000" b="1" i="0">
                <a:solidFill>
                  <a:srgbClr val="4FB093"/>
                </a:solidFill>
                <a:latin typeface="Calibri"/>
              </a:rPr>
              <a:t>LAUNCH DATE</a:t>
            </a:r>
          </a:p>
        </p:txBody>
      </p:sp>
      <p:sp>
        <p:nvSpPr>
          <p:cNvPr id="13" name="TextBox 12"/>
          <p:cNvSpPr txBox="1"/>
          <p:nvPr/>
        </p:nvSpPr>
        <p:spPr>
          <a:xfrm>
            <a:off x="6172200" y="6382512"/>
            <a:ext cx="2651760" cy="320040"/>
          </a:xfrm>
          <a:prstGeom prst="rect">
            <a:avLst/>
          </a:prstGeom>
          <a:noFill/>
        </p:spPr>
        <p:txBody>
          <a:bodyPr wrap="square" anchor="t" lIns="0" rIns="0" tIns="0" bIns="0">
            <a:spAutoFit/>
          </a:bodyPr>
          <a:lstStyle/>
          <a:p>
            <a:pPr algn="l">
              <a:lnSpc>
                <a:spcPct val="100000"/>
              </a:lnSpc>
            </a:pPr>
            <a:r>
              <a:rPr sz="1150" b="0" i="0">
                <a:solidFill>
                  <a:srgbClr val="123D30"/>
                </a:solidFill>
                <a:latin typeface="Calibri"/>
              </a:rPr>
              <a:t>13 July 2026</a:t>
            </a:r>
          </a:p>
        </p:txBody>
      </p:sp>
      <p:sp>
        <p:nvSpPr>
          <p:cNvPr id="14" name="TextBox 13"/>
          <p:cNvSpPr txBox="1"/>
          <p:nvPr/>
        </p:nvSpPr>
        <p:spPr>
          <a:xfrm>
            <a:off x="8915400" y="6172200"/>
            <a:ext cx="2560320" cy="228600"/>
          </a:xfrm>
          <a:prstGeom prst="rect">
            <a:avLst/>
          </a:prstGeom>
          <a:noFill/>
        </p:spPr>
        <p:txBody>
          <a:bodyPr wrap="square" anchor="t" lIns="0" rIns="0" tIns="0" bIns="0">
            <a:spAutoFit/>
          </a:bodyPr>
          <a:lstStyle/>
          <a:p>
            <a:pPr algn="l">
              <a:lnSpc>
                <a:spcPct val="100000"/>
              </a:lnSpc>
            </a:pPr>
            <a:r>
              <a:rPr sz="1000" b="1" i="0">
                <a:solidFill>
                  <a:srgbClr val="4FB093"/>
                </a:solidFill>
                <a:latin typeface="Calibri"/>
              </a:rPr>
              <a:t>PREPARED FOR</a:t>
            </a:r>
          </a:p>
        </p:txBody>
      </p:sp>
      <p:sp>
        <p:nvSpPr>
          <p:cNvPr id="15" name="TextBox 14"/>
          <p:cNvSpPr txBox="1"/>
          <p:nvPr/>
        </p:nvSpPr>
        <p:spPr>
          <a:xfrm>
            <a:off x="8915400" y="6382512"/>
            <a:ext cx="2651760" cy="320040"/>
          </a:xfrm>
          <a:prstGeom prst="rect">
            <a:avLst/>
          </a:prstGeom>
          <a:noFill/>
        </p:spPr>
        <p:txBody>
          <a:bodyPr wrap="square" anchor="t" lIns="0" rIns="0" tIns="0" bIns="0">
            <a:spAutoFit/>
          </a:bodyPr>
          <a:lstStyle/>
          <a:p>
            <a:pPr algn="l">
              <a:lnSpc>
                <a:spcPct val="100000"/>
              </a:lnSpc>
            </a:pPr>
            <a:r>
              <a:rPr sz="1150" b="0" i="0">
                <a:solidFill>
                  <a:srgbClr val="123D30"/>
                </a:solidFill>
                <a:latin typeface="Calibri"/>
              </a:rPr>
              <a:t>Keerthana Sai Kopanathi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00</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Agenda</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What this deck covers</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sp>
        <p:nvSpPr>
          <p:cNvPr id="8" name="Oval 7"/>
          <p:cNvSpPr/>
          <p:nvPr/>
        </p:nvSpPr>
        <p:spPr>
          <a:xfrm>
            <a:off x="640080" y="1600200"/>
            <a:ext cx="457200" cy="457200"/>
          </a:xfrm>
          <a:prstGeom prst="ellipse">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1</a:t>
            </a:r>
          </a:p>
        </p:txBody>
      </p:sp>
      <p:sp>
        <p:nvSpPr>
          <p:cNvPr id="9" name="TextBox 8"/>
          <p:cNvSpPr txBox="1"/>
          <p:nvPr/>
        </p:nvSpPr>
        <p:spPr>
          <a:xfrm>
            <a:off x="1261872" y="1572768"/>
            <a:ext cx="4480560" cy="320040"/>
          </a:xfrm>
          <a:prstGeom prst="rect">
            <a:avLst/>
          </a:prstGeom>
          <a:noFill/>
        </p:spPr>
        <p:txBody>
          <a:bodyPr wrap="square" anchor="t" lIns="0" rIns="0" tIns="0" bIns="0">
            <a:spAutoFit/>
          </a:bodyPr>
          <a:lstStyle/>
          <a:p>
            <a:pPr algn="l">
              <a:lnSpc>
                <a:spcPct val="100000"/>
              </a:lnSpc>
            </a:pPr>
            <a:r>
              <a:rPr sz="1550" b="1" i="0">
                <a:solidFill>
                  <a:srgbClr val="123D30"/>
                </a:solidFill>
                <a:latin typeface="Calibri"/>
              </a:rPr>
              <a:t>The Problem Statement</a:t>
            </a:r>
          </a:p>
        </p:txBody>
      </p:sp>
      <p:sp>
        <p:nvSpPr>
          <p:cNvPr id="10" name="TextBox 9"/>
          <p:cNvSpPr txBox="1"/>
          <p:nvPr/>
        </p:nvSpPr>
        <p:spPr>
          <a:xfrm>
            <a:off x="1261872" y="1892808"/>
            <a:ext cx="4480560" cy="548640"/>
          </a:xfrm>
          <a:prstGeom prst="rect">
            <a:avLst/>
          </a:prstGeom>
          <a:noFill/>
        </p:spPr>
        <p:txBody>
          <a:bodyPr wrap="square" anchor="t" lIns="0" rIns="0" tIns="0" bIns="0">
            <a:spAutoFit/>
          </a:bodyPr>
          <a:lstStyle/>
          <a:p>
            <a:pPr algn="l">
              <a:lnSpc>
                <a:spcPct val="100000"/>
              </a:lnSpc>
            </a:pPr>
            <a:r>
              <a:rPr sz="1150" b="0" i="0">
                <a:solidFill>
                  <a:srgbClr val="5B665E"/>
                </a:solidFill>
                <a:latin typeface="Calibri"/>
              </a:rPr>
              <a:t>Why the spreadsheet-driven process breaks down</a:t>
            </a:r>
          </a:p>
        </p:txBody>
      </p:sp>
      <p:sp>
        <p:nvSpPr>
          <p:cNvPr id="11" name="Oval 10"/>
          <p:cNvSpPr/>
          <p:nvPr/>
        </p:nvSpPr>
        <p:spPr>
          <a:xfrm>
            <a:off x="640080" y="2770632"/>
            <a:ext cx="457200" cy="457200"/>
          </a:xfrm>
          <a:prstGeom prst="ellipse">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2</a:t>
            </a:r>
          </a:p>
        </p:txBody>
      </p:sp>
      <p:sp>
        <p:nvSpPr>
          <p:cNvPr id="12" name="TextBox 11"/>
          <p:cNvSpPr txBox="1"/>
          <p:nvPr/>
        </p:nvSpPr>
        <p:spPr>
          <a:xfrm>
            <a:off x="1261872" y="2743200"/>
            <a:ext cx="4480560" cy="320040"/>
          </a:xfrm>
          <a:prstGeom prst="rect">
            <a:avLst/>
          </a:prstGeom>
          <a:noFill/>
        </p:spPr>
        <p:txBody>
          <a:bodyPr wrap="square" anchor="t" lIns="0" rIns="0" tIns="0" bIns="0">
            <a:spAutoFit/>
          </a:bodyPr>
          <a:lstStyle/>
          <a:p>
            <a:pPr algn="l">
              <a:lnSpc>
                <a:spcPct val="100000"/>
              </a:lnSpc>
            </a:pPr>
            <a:r>
              <a:rPr sz="1550" b="1" i="0">
                <a:solidFill>
                  <a:srgbClr val="123D30"/>
                </a:solidFill>
                <a:latin typeface="Calibri"/>
              </a:rPr>
              <a:t>The Solution</a:t>
            </a:r>
          </a:p>
        </p:txBody>
      </p:sp>
      <p:sp>
        <p:nvSpPr>
          <p:cNvPr id="13" name="TextBox 12"/>
          <p:cNvSpPr txBox="1"/>
          <p:nvPr/>
        </p:nvSpPr>
        <p:spPr>
          <a:xfrm>
            <a:off x="1261872" y="3063240"/>
            <a:ext cx="4480560" cy="548640"/>
          </a:xfrm>
          <a:prstGeom prst="rect">
            <a:avLst/>
          </a:prstGeom>
          <a:noFill/>
        </p:spPr>
        <p:txBody>
          <a:bodyPr wrap="square" anchor="t" lIns="0" rIns="0" tIns="0" bIns="0">
            <a:spAutoFit/>
          </a:bodyPr>
          <a:lstStyle/>
          <a:p>
            <a:pPr algn="l">
              <a:lnSpc>
                <a:spcPct val="100000"/>
              </a:lnSpc>
            </a:pPr>
            <a:r>
              <a:rPr sz="1150" b="0" i="0">
                <a:solidFill>
                  <a:srgbClr val="5B665E"/>
                </a:solidFill>
                <a:latin typeface="Calibri"/>
              </a:rPr>
              <a:t>Automatic video-progress capture replacing self-reporting</a:t>
            </a:r>
          </a:p>
        </p:txBody>
      </p:sp>
      <p:sp>
        <p:nvSpPr>
          <p:cNvPr id="14" name="Oval 13"/>
          <p:cNvSpPr/>
          <p:nvPr/>
        </p:nvSpPr>
        <p:spPr>
          <a:xfrm>
            <a:off x="640080" y="3941064"/>
            <a:ext cx="457200" cy="457200"/>
          </a:xfrm>
          <a:prstGeom prst="ellipse">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3</a:t>
            </a:r>
          </a:p>
        </p:txBody>
      </p:sp>
      <p:sp>
        <p:nvSpPr>
          <p:cNvPr id="15" name="TextBox 14"/>
          <p:cNvSpPr txBox="1"/>
          <p:nvPr/>
        </p:nvSpPr>
        <p:spPr>
          <a:xfrm>
            <a:off x="1261872" y="3913632"/>
            <a:ext cx="4480560" cy="320040"/>
          </a:xfrm>
          <a:prstGeom prst="rect">
            <a:avLst/>
          </a:prstGeom>
          <a:noFill/>
        </p:spPr>
        <p:txBody>
          <a:bodyPr wrap="square" anchor="t" lIns="0" rIns="0" tIns="0" bIns="0">
            <a:spAutoFit/>
          </a:bodyPr>
          <a:lstStyle/>
          <a:p>
            <a:pPr algn="l">
              <a:lnSpc>
                <a:spcPct val="100000"/>
              </a:lnSpc>
            </a:pPr>
            <a:r>
              <a:rPr sz="1550" b="1" i="0">
                <a:solidFill>
                  <a:srgbClr val="123D30"/>
                </a:solidFill>
                <a:latin typeface="Calibri"/>
              </a:rPr>
              <a:t>Who It's For</a:t>
            </a:r>
          </a:p>
        </p:txBody>
      </p:sp>
      <p:sp>
        <p:nvSpPr>
          <p:cNvPr id="16" name="TextBox 15"/>
          <p:cNvSpPr txBox="1"/>
          <p:nvPr/>
        </p:nvSpPr>
        <p:spPr>
          <a:xfrm>
            <a:off x="1261872" y="4233672"/>
            <a:ext cx="4480560" cy="548640"/>
          </a:xfrm>
          <a:prstGeom prst="rect">
            <a:avLst/>
          </a:prstGeom>
          <a:noFill/>
        </p:spPr>
        <p:txBody>
          <a:bodyPr wrap="square" anchor="t" lIns="0" rIns="0" tIns="0" bIns="0">
            <a:spAutoFit/>
          </a:bodyPr>
          <a:lstStyle/>
          <a:p>
            <a:pPr algn="l">
              <a:lnSpc>
                <a:spcPct val="100000"/>
              </a:lnSpc>
            </a:pPr>
            <a:r>
              <a:rPr sz="1150" b="0" i="0">
                <a:solidFill>
                  <a:srgbClr val="5B665E"/>
                </a:solidFill>
                <a:latin typeface="Calibri"/>
              </a:rPr>
              <a:t>Personas in scope, and what's deliberately excluded</a:t>
            </a:r>
          </a:p>
        </p:txBody>
      </p:sp>
      <p:sp>
        <p:nvSpPr>
          <p:cNvPr id="17" name="Oval 16"/>
          <p:cNvSpPr/>
          <p:nvPr/>
        </p:nvSpPr>
        <p:spPr>
          <a:xfrm>
            <a:off x="640080" y="5111496"/>
            <a:ext cx="457200" cy="457200"/>
          </a:xfrm>
          <a:prstGeom prst="ellipse">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4</a:t>
            </a:r>
          </a:p>
        </p:txBody>
      </p:sp>
      <p:sp>
        <p:nvSpPr>
          <p:cNvPr id="18" name="TextBox 17"/>
          <p:cNvSpPr txBox="1"/>
          <p:nvPr/>
        </p:nvSpPr>
        <p:spPr>
          <a:xfrm>
            <a:off x="1261872" y="5084064"/>
            <a:ext cx="4480560" cy="320040"/>
          </a:xfrm>
          <a:prstGeom prst="rect">
            <a:avLst/>
          </a:prstGeom>
          <a:noFill/>
        </p:spPr>
        <p:txBody>
          <a:bodyPr wrap="square" anchor="t" lIns="0" rIns="0" tIns="0" bIns="0">
            <a:spAutoFit/>
          </a:bodyPr>
          <a:lstStyle/>
          <a:p>
            <a:pPr algn="l">
              <a:lnSpc>
                <a:spcPct val="100000"/>
              </a:lnSpc>
            </a:pPr>
            <a:r>
              <a:rPr sz="1550" b="1" i="0">
                <a:solidFill>
                  <a:srgbClr val="123D30"/>
                </a:solidFill>
                <a:latin typeface="Calibri"/>
              </a:rPr>
              <a:t>Requirements</a:t>
            </a:r>
          </a:p>
        </p:txBody>
      </p:sp>
      <p:sp>
        <p:nvSpPr>
          <p:cNvPr id="19" name="TextBox 18"/>
          <p:cNvSpPr txBox="1"/>
          <p:nvPr/>
        </p:nvSpPr>
        <p:spPr>
          <a:xfrm>
            <a:off x="1261872" y="5404104"/>
            <a:ext cx="4480560" cy="548640"/>
          </a:xfrm>
          <a:prstGeom prst="rect">
            <a:avLst/>
          </a:prstGeom>
          <a:noFill/>
        </p:spPr>
        <p:txBody>
          <a:bodyPr wrap="square" anchor="t" lIns="0" rIns="0" tIns="0" bIns="0">
            <a:spAutoFit/>
          </a:bodyPr>
          <a:lstStyle/>
          <a:p>
            <a:pPr algn="l">
              <a:lnSpc>
                <a:spcPct val="100000"/>
              </a:lnSpc>
            </a:pPr>
            <a:r>
              <a:rPr sz="1150" b="0" i="0">
                <a:solidFill>
                  <a:srgbClr val="5B665E"/>
                </a:solidFill>
                <a:latin typeface="Calibri"/>
              </a:rPr>
              <a:t>The 14 functional requirements, grouped by feature</a:t>
            </a:r>
          </a:p>
        </p:txBody>
      </p:sp>
      <p:sp>
        <p:nvSpPr>
          <p:cNvPr id="20" name="Oval 19"/>
          <p:cNvSpPr/>
          <p:nvPr/>
        </p:nvSpPr>
        <p:spPr>
          <a:xfrm>
            <a:off x="6309360" y="1600200"/>
            <a:ext cx="457200" cy="457200"/>
          </a:xfrm>
          <a:prstGeom prst="ellipse">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5</a:t>
            </a:r>
          </a:p>
        </p:txBody>
      </p:sp>
      <p:sp>
        <p:nvSpPr>
          <p:cNvPr id="21" name="TextBox 20"/>
          <p:cNvSpPr txBox="1"/>
          <p:nvPr/>
        </p:nvSpPr>
        <p:spPr>
          <a:xfrm>
            <a:off x="6931152" y="1572768"/>
            <a:ext cx="4480560" cy="320040"/>
          </a:xfrm>
          <a:prstGeom prst="rect">
            <a:avLst/>
          </a:prstGeom>
          <a:noFill/>
        </p:spPr>
        <p:txBody>
          <a:bodyPr wrap="square" anchor="t" lIns="0" rIns="0" tIns="0" bIns="0">
            <a:spAutoFit/>
          </a:bodyPr>
          <a:lstStyle/>
          <a:p>
            <a:pPr algn="l">
              <a:lnSpc>
                <a:spcPct val="100000"/>
              </a:lnSpc>
            </a:pPr>
            <a:r>
              <a:rPr sz="1550" b="1" i="0">
                <a:solidFill>
                  <a:srgbClr val="123D30"/>
                </a:solidFill>
                <a:latin typeface="Calibri"/>
              </a:rPr>
              <a:t>Solution Architecture</a:t>
            </a:r>
          </a:p>
        </p:txBody>
      </p:sp>
      <p:sp>
        <p:nvSpPr>
          <p:cNvPr id="22" name="TextBox 21"/>
          <p:cNvSpPr txBox="1"/>
          <p:nvPr/>
        </p:nvSpPr>
        <p:spPr>
          <a:xfrm>
            <a:off x="6931152" y="1892808"/>
            <a:ext cx="4480560" cy="548640"/>
          </a:xfrm>
          <a:prstGeom prst="rect">
            <a:avLst/>
          </a:prstGeom>
          <a:noFill/>
        </p:spPr>
        <p:txBody>
          <a:bodyPr wrap="square" anchor="t" lIns="0" rIns="0" tIns="0" bIns="0">
            <a:spAutoFit/>
          </a:bodyPr>
          <a:lstStyle/>
          <a:p>
            <a:pPr algn="l">
              <a:lnSpc>
                <a:spcPct val="100000"/>
              </a:lnSpc>
            </a:pPr>
            <a:r>
              <a:rPr sz="1150" b="0" i="0">
                <a:solidFill>
                  <a:srgbClr val="5B665E"/>
                </a:solidFill>
                <a:latin typeface="Calibri"/>
              </a:rPr>
              <a:t>Modular monolith, tech stack, key design decisions</a:t>
            </a:r>
          </a:p>
        </p:txBody>
      </p:sp>
      <p:sp>
        <p:nvSpPr>
          <p:cNvPr id="23" name="Oval 22"/>
          <p:cNvSpPr/>
          <p:nvPr/>
        </p:nvSpPr>
        <p:spPr>
          <a:xfrm>
            <a:off x="6309360" y="2770632"/>
            <a:ext cx="457200" cy="457200"/>
          </a:xfrm>
          <a:prstGeom prst="ellipse">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6</a:t>
            </a:r>
          </a:p>
        </p:txBody>
      </p:sp>
      <p:sp>
        <p:nvSpPr>
          <p:cNvPr id="24" name="TextBox 23"/>
          <p:cNvSpPr txBox="1"/>
          <p:nvPr/>
        </p:nvSpPr>
        <p:spPr>
          <a:xfrm>
            <a:off x="6931152" y="2743200"/>
            <a:ext cx="4480560" cy="320040"/>
          </a:xfrm>
          <a:prstGeom prst="rect">
            <a:avLst/>
          </a:prstGeom>
          <a:noFill/>
        </p:spPr>
        <p:txBody>
          <a:bodyPr wrap="square" anchor="t" lIns="0" rIns="0" tIns="0" bIns="0">
            <a:spAutoFit/>
          </a:bodyPr>
          <a:lstStyle/>
          <a:p>
            <a:pPr algn="l">
              <a:lnSpc>
                <a:spcPct val="100000"/>
              </a:lnSpc>
            </a:pPr>
            <a:r>
              <a:rPr sz="1550" b="1" i="0">
                <a:solidFill>
                  <a:srgbClr val="123D30"/>
                </a:solidFill>
                <a:latin typeface="Calibri"/>
              </a:rPr>
              <a:t>BMAD / WDS Workflow</a:t>
            </a:r>
          </a:p>
        </p:txBody>
      </p:sp>
      <p:sp>
        <p:nvSpPr>
          <p:cNvPr id="25" name="TextBox 24"/>
          <p:cNvSpPr txBox="1"/>
          <p:nvPr/>
        </p:nvSpPr>
        <p:spPr>
          <a:xfrm>
            <a:off x="6931152" y="3063240"/>
            <a:ext cx="4480560" cy="548640"/>
          </a:xfrm>
          <a:prstGeom prst="rect">
            <a:avLst/>
          </a:prstGeom>
          <a:noFill/>
        </p:spPr>
        <p:txBody>
          <a:bodyPr wrap="square" anchor="t" lIns="0" rIns="0" tIns="0" bIns="0">
            <a:spAutoFit/>
          </a:bodyPr>
          <a:lstStyle/>
          <a:p>
            <a:pPr algn="l">
              <a:lnSpc>
                <a:spcPct val="100000"/>
              </a:lnSpc>
            </a:pPr>
            <a:r>
              <a:rPr sz="1150" b="0" i="0">
                <a:solidFill>
                  <a:srgbClr val="5B665E"/>
                </a:solidFill>
                <a:latin typeface="Calibri"/>
              </a:rPr>
              <a:t>Every planning skill used, in one line each</a:t>
            </a:r>
          </a:p>
        </p:txBody>
      </p:sp>
      <p:sp>
        <p:nvSpPr>
          <p:cNvPr id="26" name="Oval 25"/>
          <p:cNvSpPr/>
          <p:nvPr/>
        </p:nvSpPr>
        <p:spPr>
          <a:xfrm>
            <a:off x="6309360" y="3941064"/>
            <a:ext cx="457200" cy="457200"/>
          </a:xfrm>
          <a:prstGeom prst="ellipse">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7</a:t>
            </a:r>
          </a:p>
        </p:txBody>
      </p:sp>
      <p:sp>
        <p:nvSpPr>
          <p:cNvPr id="27" name="TextBox 26"/>
          <p:cNvSpPr txBox="1"/>
          <p:nvPr/>
        </p:nvSpPr>
        <p:spPr>
          <a:xfrm>
            <a:off x="6931152" y="3913632"/>
            <a:ext cx="4480560" cy="320040"/>
          </a:xfrm>
          <a:prstGeom prst="rect">
            <a:avLst/>
          </a:prstGeom>
          <a:noFill/>
        </p:spPr>
        <p:txBody>
          <a:bodyPr wrap="square" anchor="t" lIns="0" rIns="0" tIns="0" bIns="0">
            <a:spAutoFit/>
          </a:bodyPr>
          <a:lstStyle/>
          <a:p>
            <a:pPr algn="l">
              <a:lnSpc>
                <a:spcPct val="100000"/>
              </a:lnSpc>
            </a:pPr>
            <a:r>
              <a:rPr sz="1550" b="1" i="0">
                <a:solidFill>
                  <a:srgbClr val="123D30"/>
                </a:solidFill>
                <a:latin typeface="Calibri"/>
              </a:rPr>
              <a:t>Prompts Sent to the LLM</a:t>
            </a:r>
          </a:p>
        </p:txBody>
      </p:sp>
      <p:sp>
        <p:nvSpPr>
          <p:cNvPr id="28" name="TextBox 27"/>
          <p:cNvSpPr txBox="1"/>
          <p:nvPr/>
        </p:nvSpPr>
        <p:spPr>
          <a:xfrm>
            <a:off x="6931152" y="4233672"/>
            <a:ext cx="4480560" cy="548640"/>
          </a:xfrm>
          <a:prstGeom prst="rect">
            <a:avLst/>
          </a:prstGeom>
          <a:noFill/>
        </p:spPr>
        <p:txBody>
          <a:bodyPr wrap="square" anchor="t" lIns="0" rIns="0" tIns="0" bIns="0">
            <a:spAutoFit/>
          </a:bodyPr>
          <a:lstStyle/>
          <a:p>
            <a:pPr algn="l">
              <a:lnSpc>
                <a:spcPct val="100000"/>
              </a:lnSpc>
            </a:pPr>
            <a:r>
              <a:rPr sz="1150" b="0" i="0">
                <a:solidFill>
                  <a:srgbClr val="5B665E"/>
                </a:solidFill>
                <a:latin typeface="Calibri"/>
              </a:rPr>
              <a:t>Representative prompts that drove each skill</a:t>
            </a:r>
          </a:p>
        </p:txBody>
      </p:sp>
      <p:sp>
        <p:nvSpPr>
          <p:cNvPr id="29" name="Oval 28"/>
          <p:cNvSpPr/>
          <p:nvPr/>
        </p:nvSpPr>
        <p:spPr>
          <a:xfrm>
            <a:off x="6309360" y="5111496"/>
            <a:ext cx="457200" cy="457200"/>
          </a:xfrm>
          <a:prstGeom prst="ellipse">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8</a:t>
            </a:r>
          </a:p>
        </p:txBody>
      </p:sp>
      <p:sp>
        <p:nvSpPr>
          <p:cNvPr id="30" name="TextBox 29"/>
          <p:cNvSpPr txBox="1"/>
          <p:nvPr/>
        </p:nvSpPr>
        <p:spPr>
          <a:xfrm>
            <a:off x="6931152" y="5084064"/>
            <a:ext cx="4480560" cy="320040"/>
          </a:xfrm>
          <a:prstGeom prst="rect">
            <a:avLst/>
          </a:prstGeom>
          <a:noFill/>
        </p:spPr>
        <p:txBody>
          <a:bodyPr wrap="square" anchor="t" lIns="0" rIns="0" tIns="0" bIns="0">
            <a:spAutoFit/>
          </a:bodyPr>
          <a:lstStyle/>
          <a:p>
            <a:pPr algn="l">
              <a:lnSpc>
                <a:spcPct val="100000"/>
              </a:lnSpc>
            </a:pPr>
            <a:r>
              <a:rPr sz="1550" b="1" i="0">
                <a:solidFill>
                  <a:srgbClr val="123D30"/>
                </a:solidFill>
                <a:latin typeface="Calibri"/>
              </a:rPr>
              <a:t>Skill → Output Folder Map</a:t>
            </a:r>
          </a:p>
        </p:txBody>
      </p:sp>
      <p:sp>
        <p:nvSpPr>
          <p:cNvPr id="31" name="TextBox 30"/>
          <p:cNvSpPr txBox="1"/>
          <p:nvPr/>
        </p:nvSpPr>
        <p:spPr>
          <a:xfrm>
            <a:off x="6931152" y="5404104"/>
            <a:ext cx="4480560" cy="548640"/>
          </a:xfrm>
          <a:prstGeom prst="rect">
            <a:avLst/>
          </a:prstGeom>
          <a:noFill/>
        </p:spPr>
        <p:txBody>
          <a:bodyPr wrap="square" anchor="t" lIns="0" rIns="0" tIns="0" bIns="0">
            <a:spAutoFit/>
          </a:bodyPr>
          <a:lstStyle/>
          <a:p>
            <a:pPr algn="l">
              <a:lnSpc>
                <a:spcPct val="100000"/>
              </a:lnSpc>
            </a:pPr>
            <a:r>
              <a:rPr sz="1150" b="0" i="0">
                <a:solidFill>
                  <a:srgbClr val="5B665E"/>
                </a:solidFill>
                <a:latin typeface="Calibri"/>
              </a:rPr>
              <a:t>Where each skill's artifact landed in _bmad-output/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01</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The Problem Statement</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A spreadsheet only works if people remember to update it — and nobody has a reason to</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sp>
        <p:nvSpPr>
          <p:cNvPr id="8" name="Rounded Rectangle 7"/>
          <p:cNvSpPr/>
          <p:nvPr/>
        </p:nvSpPr>
        <p:spPr>
          <a:xfrm>
            <a:off x="502920" y="1600200"/>
            <a:ext cx="5394960" cy="1417320"/>
          </a:xfrm>
          <a:prstGeom prst="roundRect">
            <a:avLst>
              <a:gd name="adj" fmla="val 4500"/>
            </a:avLst>
          </a:prstGeom>
          <a:solidFill>
            <a:srgbClr val="FFFFFF"/>
          </a:solidFill>
          <a:ln w="9525">
            <a:solidFill>
              <a:srgbClr val="E4DE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00200"/>
            <a:ext cx="64008" cy="1417320"/>
          </a:xfrm>
          <a:prstGeom prst="rect">
            <a:avLst/>
          </a:prstGeom>
          <a:solidFill>
            <a:srgbClr val="4FB0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764792"/>
            <a:ext cx="4937760" cy="365760"/>
          </a:xfrm>
          <a:prstGeom prst="rect">
            <a:avLst/>
          </a:prstGeom>
          <a:noFill/>
        </p:spPr>
        <p:txBody>
          <a:bodyPr wrap="square" anchor="t" lIns="0" rIns="0" tIns="0" bIns="0">
            <a:spAutoFit/>
          </a:bodyPr>
          <a:lstStyle/>
          <a:p>
            <a:pPr algn="l">
              <a:lnSpc>
                <a:spcPct val="100000"/>
              </a:lnSpc>
            </a:pPr>
            <a:r>
              <a:rPr sz="1500" b="1" i="0">
                <a:solidFill>
                  <a:srgbClr val="123D30"/>
                </a:solidFill>
                <a:latin typeface="Calibri"/>
              </a:rPr>
              <a:t>Data is unreliable</a:t>
            </a:r>
          </a:p>
        </p:txBody>
      </p:sp>
      <p:sp>
        <p:nvSpPr>
          <p:cNvPr id="11" name="TextBox 10"/>
          <p:cNvSpPr txBox="1"/>
          <p:nvPr/>
        </p:nvSpPr>
        <p:spPr>
          <a:xfrm>
            <a:off x="758952" y="2167128"/>
            <a:ext cx="4937760" cy="685800"/>
          </a:xfrm>
          <a:prstGeom prst="rect">
            <a:avLst/>
          </a:prstGeom>
          <a:noFill/>
        </p:spPr>
        <p:txBody>
          <a:bodyPr wrap="square" anchor="t" lIns="0" rIns="0" tIns="0" bIns="0">
            <a:spAutoFit/>
          </a:bodyPr>
          <a:lstStyle/>
          <a:p>
            <a:pPr algn="l">
              <a:lnSpc>
                <a:spcPct val="112000"/>
              </a:lnSpc>
            </a:pPr>
            <a:r>
              <a:rPr sz="1250" b="0" i="0">
                <a:solidFill>
                  <a:srgbClr val="222A24"/>
                </a:solidFill>
                <a:latin typeface="Calibri"/>
              </a:rPr>
              <a:t>88% of HR spreadsheets contain errors, and only 20% of HR leaders trust their own skill data.</a:t>
            </a:r>
          </a:p>
        </p:txBody>
      </p:sp>
      <p:sp>
        <p:nvSpPr>
          <p:cNvPr id="12" name="Rounded Rectangle 11"/>
          <p:cNvSpPr/>
          <p:nvPr/>
        </p:nvSpPr>
        <p:spPr>
          <a:xfrm>
            <a:off x="6172200" y="1600200"/>
            <a:ext cx="5394960" cy="1417320"/>
          </a:xfrm>
          <a:prstGeom prst="roundRect">
            <a:avLst>
              <a:gd name="adj" fmla="val 4500"/>
            </a:avLst>
          </a:prstGeom>
          <a:solidFill>
            <a:srgbClr val="FFFFFF"/>
          </a:solidFill>
          <a:ln w="9525">
            <a:solidFill>
              <a:srgbClr val="E4DE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600200"/>
            <a:ext cx="64008" cy="1417320"/>
          </a:xfrm>
          <a:prstGeom prst="rect">
            <a:avLst/>
          </a:prstGeom>
          <a:solidFill>
            <a:srgbClr val="4FB0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764792"/>
            <a:ext cx="4937760" cy="365760"/>
          </a:xfrm>
          <a:prstGeom prst="rect">
            <a:avLst/>
          </a:prstGeom>
          <a:noFill/>
        </p:spPr>
        <p:txBody>
          <a:bodyPr wrap="square" anchor="t" lIns="0" rIns="0" tIns="0" bIns="0">
            <a:spAutoFit/>
          </a:bodyPr>
          <a:lstStyle/>
          <a:p>
            <a:pPr algn="l">
              <a:lnSpc>
                <a:spcPct val="100000"/>
              </a:lnSpc>
            </a:pPr>
            <a:r>
              <a:rPr sz="1500" b="1" i="0">
                <a:solidFill>
                  <a:srgbClr val="123D30"/>
                </a:solidFill>
                <a:latin typeface="Calibri"/>
              </a:rPr>
              <a:t>Visibility is manual</a:t>
            </a:r>
          </a:p>
        </p:txBody>
      </p:sp>
      <p:sp>
        <p:nvSpPr>
          <p:cNvPr id="15" name="TextBox 14"/>
          <p:cNvSpPr txBox="1"/>
          <p:nvPr/>
        </p:nvSpPr>
        <p:spPr>
          <a:xfrm>
            <a:off x="6428232" y="2167128"/>
            <a:ext cx="4937760" cy="685800"/>
          </a:xfrm>
          <a:prstGeom prst="rect">
            <a:avLst/>
          </a:prstGeom>
          <a:noFill/>
        </p:spPr>
        <p:txBody>
          <a:bodyPr wrap="square" anchor="t" lIns="0" rIns="0" tIns="0" bIns="0">
            <a:spAutoFit/>
          </a:bodyPr>
          <a:lstStyle/>
          <a:p>
            <a:pPr algn="l">
              <a:lnSpc>
                <a:spcPct val="112000"/>
              </a:lnSpc>
            </a:pPr>
            <a:r>
              <a:rPr sz="1250" b="0" i="0">
                <a:solidFill>
                  <a:srgbClr val="222A24"/>
                </a:solidFill>
                <a:latin typeface="Calibri"/>
              </a:rPr>
              <a:t>Consolidating status across dozens of employees eats real admin time — there's no live org-wide picture.</a:t>
            </a:r>
          </a:p>
        </p:txBody>
      </p:sp>
      <p:sp>
        <p:nvSpPr>
          <p:cNvPr id="16" name="Rounded Rectangle 15"/>
          <p:cNvSpPr/>
          <p:nvPr/>
        </p:nvSpPr>
        <p:spPr>
          <a:xfrm>
            <a:off x="502920" y="3154680"/>
            <a:ext cx="5394960" cy="1417320"/>
          </a:xfrm>
          <a:prstGeom prst="roundRect">
            <a:avLst>
              <a:gd name="adj" fmla="val 4500"/>
            </a:avLst>
          </a:prstGeom>
          <a:solidFill>
            <a:srgbClr val="FFFFFF"/>
          </a:solidFill>
          <a:ln w="9525">
            <a:solidFill>
              <a:srgbClr val="E4DE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154680"/>
            <a:ext cx="64008" cy="1417320"/>
          </a:xfrm>
          <a:prstGeom prst="rect">
            <a:avLst/>
          </a:prstGeom>
          <a:solidFill>
            <a:srgbClr val="4FB0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319272"/>
            <a:ext cx="4937760" cy="365760"/>
          </a:xfrm>
          <a:prstGeom prst="rect">
            <a:avLst/>
          </a:prstGeom>
          <a:noFill/>
        </p:spPr>
        <p:txBody>
          <a:bodyPr wrap="square" anchor="t" lIns="0" rIns="0" tIns="0" bIns="0">
            <a:spAutoFit/>
          </a:bodyPr>
          <a:lstStyle/>
          <a:p>
            <a:pPr algn="l">
              <a:lnSpc>
                <a:spcPct val="100000"/>
              </a:lnSpc>
            </a:pPr>
            <a:r>
              <a:rPr sz="1500" b="1" i="0">
                <a:solidFill>
                  <a:srgbClr val="123D30"/>
                </a:solidFill>
                <a:latin typeface="Calibri"/>
              </a:rPr>
              <a:t>No payoff for employees</a:t>
            </a:r>
          </a:p>
        </p:txBody>
      </p:sp>
      <p:sp>
        <p:nvSpPr>
          <p:cNvPr id="19" name="TextBox 18"/>
          <p:cNvSpPr txBox="1"/>
          <p:nvPr/>
        </p:nvSpPr>
        <p:spPr>
          <a:xfrm>
            <a:off x="758952" y="3721608"/>
            <a:ext cx="4937760" cy="685800"/>
          </a:xfrm>
          <a:prstGeom prst="rect">
            <a:avLst/>
          </a:prstGeom>
          <a:noFill/>
        </p:spPr>
        <p:txBody>
          <a:bodyPr wrap="square" anchor="t" lIns="0" rIns="0" tIns="0" bIns="0">
            <a:spAutoFit/>
          </a:bodyPr>
          <a:lstStyle/>
          <a:p>
            <a:pPr algn="l">
              <a:lnSpc>
                <a:spcPct val="112000"/>
              </a:lnSpc>
            </a:pPr>
            <a:r>
              <a:rPr sz="1250" b="0" i="0">
                <a:solidFill>
                  <a:srgbClr val="222A24"/>
                </a:solidFill>
                <a:latin typeface="Calibri"/>
              </a:rPr>
              <a:t>Self-reporting is a chore with zero personal upside, so it's the first thing skipped.</a:t>
            </a:r>
          </a:p>
        </p:txBody>
      </p:sp>
      <p:sp>
        <p:nvSpPr>
          <p:cNvPr id="20" name="Rounded Rectangle 19"/>
          <p:cNvSpPr/>
          <p:nvPr/>
        </p:nvSpPr>
        <p:spPr>
          <a:xfrm>
            <a:off x="6172200" y="3154680"/>
            <a:ext cx="5394960" cy="1417320"/>
          </a:xfrm>
          <a:prstGeom prst="roundRect">
            <a:avLst>
              <a:gd name="adj" fmla="val 4500"/>
            </a:avLst>
          </a:prstGeom>
          <a:solidFill>
            <a:srgbClr val="FFFFFF"/>
          </a:solidFill>
          <a:ln w="9525">
            <a:solidFill>
              <a:srgbClr val="E4DE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3154680"/>
            <a:ext cx="64008" cy="1417320"/>
          </a:xfrm>
          <a:prstGeom prst="rect">
            <a:avLst/>
          </a:prstGeom>
          <a:solidFill>
            <a:srgbClr val="4FB0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319272"/>
            <a:ext cx="4937760" cy="365760"/>
          </a:xfrm>
          <a:prstGeom prst="rect">
            <a:avLst/>
          </a:prstGeom>
          <a:noFill/>
        </p:spPr>
        <p:txBody>
          <a:bodyPr wrap="square" anchor="t" lIns="0" rIns="0" tIns="0" bIns="0">
            <a:spAutoFit/>
          </a:bodyPr>
          <a:lstStyle/>
          <a:p>
            <a:pPr algn="l">
              <a:lnSpc>
                <a:spcPct val="100000"/>
              </a:lnSpc>
            </a:pPr>
            <a:r>
              <a:rPr sz="1500" b="1" i="0">
                <a:solidFill>
                  <a:srgbClr val="123D30"/>
                </a:solidFill>
                <a:latin typeface="Calibri"/>
              </a:rPr>
              <a:t>HR ends up guessing</a:t>
            </a:r>
          </a:p>
        </p:txBody>
      </p:sp>
      <p:sp>
        <p:nvSpPr>
          <p:cNvPr id="23" name="TextBox 22"/>
          <p:cNvSpPr txBox="1"/>
          <p:nvPr/>
        </p:nvSpPr>
        <p:spPr>
          <a:xfrm>
            <a:off x="6428232" y="3721608"/>
            <a:ext cx="4937760" cy="685800"/>
          </a:xfrm>
          <a:prstGeom prst="rect">
            <a:avLst/>
          </a:prstGeom>
          <a:noFill/>
        </p:spPr>
        <p:txBody>
          <a:bodyPr wrap="square" anchor="t" lIns="0" rIns="0" tIns="0" bIns="0">
            <a:spAutoFit/>
          </a:bodyPr>
          <a:lstStyle/>
          <a:p>
            <a:pPr algn="l">
              <a:lnSpc>
                <a:spcPct val="112000"/>
              </a:lnSpc>
            </a:pPr>
            <a:r>
              <a:rPr sz="1250" b="0" i="0">
                <a:solidFill>
                  <a:srgbClr val="222A24"/>
                </a:solidFill>
                <a:latin typeface="Calibri"/>
              </a:rPr>
              <a:t>When asked “who's ready for this?”, HR often has to ask around anyway — the sheet can't be trusted at the moment it matters.</a:t>
            </a:r>
          </a:p>
        </p:txBody>
      </p:sp>
      <p:sp>
        <p:nvSpPr>
          <p:cNvPr id="24" name="Rectangle 23"/>
          <p:cNvSpPr/>
          <p:nvPr/>
        </p:nvSpPr>
        <p:spPr>
          <a:xfrm>
            <a:off x="502920" y="4892040"/>
            <a:ext cx="11155680" cy="777240"/>
          </a:xfrm>
          <a:prstGeom prst="rect">
            <a:avLst/>
          </a:prstGeom>
          <a:solidFill>
            <a:srgbClr val="1B54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010912"/>
            <a:ext cx="10607040" cy="548640"/>
          </a:xfrm>
          <a:prstGeom prst="rect">
            <a:avLst/>
          </a:prstGeom>
          <a:noFill/>
        </p:spPr>
        <p:txBody>
          <a:bodyPr wrap="square" anchor="t" lIns="0" rIns="0" tIns="0" bIns="0">
            <a:spAutoFit/>
          </a:bodyPr>
          <a:lstStyle/>
          <a:p>
            <a:pPr algn="l">
              <a:lnSpc>
                <a:spcPct val="100000"/>
              </a:lnSpc>
            </a:pPr>
            <a:r>
              <a:rPr sz="1350" b="0" i="1">
                <a:solidFill>
                  <a:srgbClr val="FFFFFF"/>
                </a:solidFill>
                <a:latin typeface="Georgia"/>
              </a:rPr>
              <a:t>“87% of companies cite lack of workforce-skills visibility as their top barrier to growth.”  — Industry research, cited in the Product Brief</a:t>
            </a:r>
          </a:p>
        </p:txBody>
      </p:sp>
      <p:sp>
        <p:nvSpPr>
          <p:cNvPr id="26" name="TextBox 25"/>
          <p:cNvSpPr txBox="1"/>
          <p:nvPr/>
        </p:nvSpPr>
        <p:spPr>
          <a:xfrm>
            <a:off x="502920" y="5806440"/>
            <a:ext cx="11155680" cy="640080"/>
          </a:xfrm>
          <a:prstGeom prst="rect">
            <a:avLst/>
          </a:prstGeom>
          <a:noFill/>
        </p:spPr>
        <p:txBody>
          <a:bodyPr wrap="square" anchor="t" lIns="0" rIns="0" tIns="0" bIns="0">
            <a:spAutoFit/>
          </a:bodyPr>
          <a:lstStyle/>
          <a:p>
            <a:pPr algn="l">
              <a:lnSpc>
                <a:spcPct val="100000"/>
              </a:lnSpc>
            </a:pPr>
            <a:r>
              <a:rPr sz="1300" b="1" i="0">
                <a:solidFill>
                  <a:srgbClr val="123D30"/>
                </a:solidFill>
                <a:latin typeface="Calibri"/>
              </a:rPr>
              <a:t>Key insight: it isn't the spreadsheet format that's broken — it's the self-reporting step. Any tool that still asks employees to type “I'm 40% done” inherits the same trust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02</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The Solution</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Automatic video-progress capture replaces manual self-reporting</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sp>
        <p:nvSpPr>
          <p:cNvPr id="8" name="Rectangle 7"/>
          <p:cNvSpPr/>
          <p:nvPr/>
        </p:nvSpPr>
        <p:spPr>
          <a:xfrm>
            <a:off x="502920" y="1508760"/>
            <a:ext cx="11155680" cy="658368"/>
          </a:xfrm>
          <a:prstGeom prst="rect">
            <a:avLst/>
          </a:prstGeom>
          <a:solidFill>
            <a:srgbClr val="E9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00200"/>
            <a:ext cx="10698480" cy="502920"/>
          </a:xfrm>
          <a:prstGeom prst="rect">
            <a:avLst/>
          </a:prstGeom>
          <a:noFill/>
        </p:spPr>
        <p:txBody>
          <a:bodyPr wrap="square" anchor="t" lIns="0" rIns="0" tIns="0" bIns="0">
            <a:spAutoFit/>
          </a:bodyPr>
          <a:lstStyle/>
          <a:p>
            <a:pPr algn="l">
              <a:lnSpc>
                <a:spcPct val="100000"/>
              </a:lnSpc>
            </a:pPr>
            <a:r>
              <a:rPr sz="1250" b="1" i="0">
                <a:solidFill>
                  <a:srgbClr val="123D30"/>
                </a:solidFill>
                <a:latin typeface="Calibri"/>
              </a:rPr>
              <a:t>Core mechanic: the same signal that lets an employee “resume where they left off” is the signal that tells HR how far along they are. One write, two payoffs, no separate status update.</a:t>
            </a:r>
          </a:p>
        </p:txBody>
      </p:sp>
      <p:sp>
        <p:nvSpPr>
          <p:cNvPr id="10" name="Oval 9"/>
          <p:cNvSpPr/>
          <p:nvPr/>
        </p:nvSpPr>
        <p:spPr>
          <a:xfrm>
            <a:off x="594360" y="2331720"/>
            <a:ext cx="384048" cy="384048"/>
          </a:xfrm>
          <a:prstGeom prst="ellipse">
            <a:avLst/>
          </a:prstGeom>
          <a:solidFill>
            <a:srgbClr val="4FB0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solidFill>
                  <a:srgbClr val="123D30"/>
                </a:solidFill>
              </a:rPr>
              <a:t>1</a:t>
            </a:r>
          </a:p>
        </p:txBody>
      </p:sp>
      <p:sp>
        <p:nvSpPr>
          <p:cNvPr id="11" name="TextBox 10"/>
          <p:cNvSpPr txBox="1"/>
          <p:nvPr/>
        </p:nvSpPr>
        <p:spPr>
          <a:xfrm>
            <a:off x="1115568" y="2313432"/>
            <a:ext cx="10332720" cy="384048"/>
          </a:xfrm>
          <a:prstGeom prst="rect">
            <a:avLst/>
          </a:prstGeom>
          <a:noFill/>
        </p:spPr>
        <p:txBody>
          <a:bodyPr wrap="square" anchor="t" lIns="0" rIns="0" tIns="0" bIns="0">
            <a:spAutoFit/>
          </a:bodyPr>
          <a:lstStyle/>
          <a:p>
            <a:pPr algn="l">
              <a:lnSpc>
                <a:spcPct val="100000"/>
              </a:lnSpc>
            </a:pPr>
            <a:r>
              <a:rPr sz="1350" b="0" i="0">
                <a:solidFill>
                  <a:srgbClr val="222A24"/>
                </a:solidFill>
                <a:latin typeface="Calibri"/>
              </a:rPr>
              <a:t>HR assigns a skill to an employee — sets the roadmap; the system never guesses.</a:t>
            </a:r>
          </a:p>
        </p:txBody>
      </p:sp>
      <p:sp>
        <p:nvSpPr>
          <p:cNvPr id="12" name="Oval 11"/>
          <p:cNvSpPr/>
          <p:nvPr/>
        </p:nvSpPr>
        <p:spPr>
          <a:xfrm>
            <a:off x="594360" y="2816352"/>
            <a:ext cx="384048" cy="384048"/>
          </a:xfrm>
          <a:prstGeom prst="ellipse">
            <a:avLst/>
          </a:prstGeom>
          <a:solidFill>
            <a:srgbClr val="4FB0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solidFill>
                  <a:srgbClr val="123D30"/>
                </a:solidFill>
              </a:rPr>
              <a:t>2</a:t>
            </a:r>
          </a:p>
        </p:txBody>
      </p:sp>
      <p:sp>
        <p:nvSpPr>
          <p:cNvPr id="13" name="TextBox 12"/>
          <p:cNvSpPr txBox="1"/>
          <p:nvPr/>
        </p:nvSpPr>
        <p:spPr>
          <a:xfrm>
            <a:off x="1115568" y="2798064"/>
            <a:ext cx="10332720" cy="384048"/>
          </a:xfrm>
          <a:prstGeom prst="rect">
            <a:avLst/>
          </a:prstGeom>
          <a:noFill/>
        </p:spPr>
        <p:txBody>
          <a:bodyPr wrap="square" anchor="t" lIns="0" rIns="0" tIns="0" bIns="0">
            <a:spAutoFit/>
          </a:bodyPr>
          <a:lstStyle/>
          <a:p>
            <a:pPr algn="l">
              <a:lnSpc>
                <a:spcPct val="100000"/>
              </a:lnSpc>
            </a:pPr>
            <a:r>
              <a:rPr sz="1350" b="0" i="0">
                <a:solidFill>
                  <a:srgbClr val="222A24"/>
                </a:solidFill>
                <a:latin typeface="Calibri"/>
              </a:rPr>
              <a:t>The system recommends content (video/doc/website) via AI semantic matching — no manual hunting.</a:t>
            </a:r>
          </a:p>
        </p:txBody>
      </p:sp>
      <p:sp>
        <p:nvSpPr>
          <p:cNvPr id="14" name="Oval 13"/>
          <p:cNvSpPr/>
          <p:nvPr/>
        </p:nvSpPr>
        <p:spPr>
          <a:xfrm>
            <a:off x="594360" y="3300984"/>
            <a:ext cx="384048" cy="384048"/>
          </a:xfrm>
          <a:prstGeom prst="ellipse">
            <a:avLst/>
          </a:prstGeom>
          <a:solidFill>
            <a:srgbClr val="4FB0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solidFill>
                  <a:srgbClr val="123D30"/>
                </a:solidFill>
              </a:rPr>
              <a:t>3</a:t>
            </a:r>
          </a:p>
        </p:txBody>
      </p:sp>
      <p:sp>
        <p:nvSpPr>
          <p:cNvPr id="15" name="TextBox 14"/>
          <p:cNvSpPr txBox="1"/>
          <p:nvPr/>
        </p:nvSpPr>
        <p:spPr>
          <a:xfrm>
            <a:off x="1115568" y="3282696"/>
            <a:ext cx="10332720" cy="384048"/>
          </a:xfrm>
          <a:prstGeom prst="rect">
            <a:avLst/>
          </a:prstGeom>
          <a:noFill/>
        </p:spPr>
        <p:txBody>
          <a:bodyPr wrap="square" anchor="t" lIns="0" rIns="0" tIns="0" bIns="0">
            <a:spAutoFit/>
          </a:bodyPr>
          <a:lstStyle/>
          <a:p>
            <a:pPr algn="l">
              <a:lnSpc>
                <a:spcPct val="100000"/>
              </a:lnSpc>
            </a:pPr>
            <a:r>
              <a:rPr sz="1350" b="0" i="0">
                <a:solidFill>
                  <a:srgbClr val="222A24"/>
                </a:solidFill>
                <a:latin typeface="Calibri"/>
              </a:rPr>
              <a:t>The employee watches; playback position is recorded silently in the background.</a:t>
            </a:r>
          </a:p>
        </p:txBody>
      </p:sp>
      <p:sp>
        <p:nvSpPr>
          <p:cNvPr id="16" name="Oval 15"/>
          <p:cNvSpPr/>
          <p:nvPr/>
        </p:nvSpPr>
        <p:spPr>
          <a:xfrm>
            <a:off x="594360" y="3785616"/>
            <a:ext cx="384048" cy="384048"/>
          </a:xfrm>
          <a:prstGeom prst="ellipse">
            <a:avLst/>
          </a:prstGeom>
          <a:solidFill>
            <a:srgbClr val="4FB0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solidFill>
                  <a:srgbClr val="123D30"/>
                </a:solidFill>
              </a:rPr>
              <a:t>4</a:t>
            </a:r>
          </a:p>
        </p:txBody>
      </p:sp>
      <p:sp>
        <p:nvSpPr>
          <p:cNvPr id="17" name="TextBox 16"/>
          <p:cNvSpPr txBox="1"/>
          <p:nvPr/>
        </p:nvSpPr>
        <p:spPr>
          <a:xfrm>
            <a:off x="1115568" y="3767328"/>
            <a:ext cx="10332720" cy="384048"/>
          </a:xfrm>
          <a:prstGeom prst="rect">
            <a:avLst/>
          </a:prstGeom>
          <a:noFill/>
        </p:spPr>
        <p:txBody>
          <a:bodyPr wrap="square" anchor="t" lIns="0" rIns="0" tIns="0" bIns="0">
            <a:spAutoFit/>
          </a:bodyPr>
          <a:lstStyle/>
          <a:p>
            <a:pPr algn="l">
              <a:lnSpc>
                <a:spcPct val="100000"/>
              </a:lnSpc>
            </a:pPr>
            <a:r>
              <a:rPr sz="1350" b="0" i="0">
                <a:solidFill>
                  <a:srgbClr val="222A24"/>
                </a:solidFill>
                <a:latin typeface="Calibri"/>
              </a:rPr>
              <a:t>The employee resumes exactly where they left off, any time — Netflix/Spotify-style.</a:t>
            </a:r>
          </a:p>
        </p:txBody>
      </p:sp>
      <p:sp>
        <p:nvSpPr>
          <p:cNvPr id="18" name="Oval 17"/>
          <p:cNvSpPr/>
          <p:nvPr/>
        </p:nvSpPr>
        <p:spPr>
          <a:xfrm>
            <a:off x="594360" y="4270248"/>
            <a:ext cx="384048" cy="384048"/>
          </a:xfrm>
          <a:prstGeom prst="ellipse">
            <a:avLst/>
          </a:prstGeom>
          <a:solidFill>
            <a:srgbClr val="4FB0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solidFill>
                  <a:srgbClr val="123D30"/>
                </a:solidFill>
              </a:rPr>
              <a:t>5</a:t>
            </a:r>
          </a:p>
        </p:txBody>
      </p:sp>
      <p:sp>
        <p:nvSpPr>
          <p:cNvPr id="19" name="TextBox 18"/>
          <p:cNvSpPr txBox="1"/>
          <p:nvPr/>
        </p:nvSpPr>
        <p:spPr>
          <a:xfrm>
            <a:off x="1115568" y="4251960"/>
            <a:ext cx="10332720" cy="384048"/>
          </a:xfrm>
          <a:prstGeom prst="rect">
            <a:avLst/>
          </a:prstGeom>
          <a:noFill/>
        </p:spPr>
        <p:txBody>
          <a:bodyPr wrap="square" anchor="t" lIns="0" rIns="0" tIns="0" bIns="0">
            <a:spAutoFit/>
          </a:bodyPr>
          <a:lstStyle/>
          <a:p>
            <a:pPr algn="l">
              <a:lnSpc>
                <a:spcPct val="100000"/>
              </a:lnSpc>
            </a:pPr>
            <a:r>
              <a:rPr sz="1350" b="0" i="0">
                <a:solidFill>
                  <a:srgbClr val="222A24"/>
                </a:solidFill>
                <a:latin typeface="Calibri"/>
              </a:rPr>
              <a:t>HR's dashboard updates itself from that same watch data, in near real time.</a:t>
            </a:r>
          </a:p>
        </p:txBody>
      </p:sp>
      <p:sp>
        <p:nvSpPr>
          <p:cNvPr id="20" name="Oval 19"/>
          <p:cNvSpPr/>
          <p:nvPr/>
        </p:nvSpPr>
        <p:spPr>
          <a:xfrm>
            <a:off x="594360" y="4754880"/>
            <a:ext cx="384048" cy="384048"/>
          </a:xfrm>
          <a:prstGeom prst="ellipse">
            <a:avLst/>
          </a:prstGeom>
          <a:solidFill>
            <a:srgbClr val="4FB0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solidFill>
                  <a:srgbClr val="123D30"/>
                </a:solidFill>
              </a:rPr>
              <a:t>6</a:t>
            </a:r>
          </a:p>
        </p:txBody>
      </p:sp>
      <p:sp>
        <p:nvSpPr>
          <p:cNvPr id="21" name="TextBox 20"/>
          <p:cNvSpPr txBox="1"/>
          <p:nvPr/>
        </p:nvSpPr>
        <p:spPr>
          <a:xfrm>
            <a:off x="1115568" y="4736592"/>
            <a:ext cx="10332720" cy="384048"/>
          </a:xfrm>
          <a:prstGeom prst="rect">
            <a:avLst/>
          </a:prstGeom>
          <a:noFill/>
        </p:spPr>
        <p:txBody>
          <a:bodyPr wrap="square" anchor="t" lIns="0" rIns="0" tIns="0" bIns="0">
            <a:spAutoFit/>
          </a:bodyPr>
          <a:lstStyle/>
          <a:p>
            <a:pPr algn="l">
              <a:lnSpc>
                <a:spcPct val="100000"/>
              </a:lnSpc>
            </a:pPr>
            <a:r>
              <a:rPr sz="1350" b="0" i="0">
                <a:solidFill>
                  <a:srgbClr val="222A24"/>
                </a:solidFill>
                <a:latin typeface="Calibri"/>
              </a:rPr>
              <a:t>HR can drill into any row to see raw evidence: watch %, last-updated, verified vs self-reported.</a:t>
            </a:r>
          </a:p>
        </p:txBody>
      </p:sp>
      <p:sp>
        <p:nvSpPr>
          <p:cNvPr id="22" name="Rectangle 21"/>
          <p:cNvSpPr/>
          <p:nvPr/>
        </p:nvSpPr>
        <p:spPr>
          <a:xfrm>
            <a:off x="502920" y="5623560"/>
            <a:ext cx="11155680" cy="713232"/>
          </a:xfrm>
          <a:prstGeom prst="rect">
            <a:avLst/>
          </a:prstGeom>
          <a:solidFill>
            <a:srgbClr val="F3E6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715000"/>
            <a:ext cx="10698480" cy="548640"/>
          </a:xfrm>
          <a:prstGeom prst="rect">
            <a:avLst/>
          </a:prstGeom>
          <a:noFill/>
        </p:spPr>
        <p:txBody>
          <a:bodyPr wrap="square" anchor="t" lIns="0" rIns="0" tIns="0" bIns="0">
            <a:spAutoFit/>
          </a:bodyPr>
          <a:lstStyle/>
          <a:p>
            <a:pPr algn="l">
              <a:lnSpc>
                <a:spcPct val="100000"/>
              </a:lnSpc>
            </a:pPr>
            <a:r>
              <a:rPr sz="1200" b="0" i="1">
                <a:solidFill>
                  <a:srgbClr val="6B4A1E"/>
                </a:solidFill>
                <a:latin typeface="Calibri"/>
              </a:rPr>
              <a:t>Counter-metric to watch: if HR is still privately checking the old spreadsheet after go-live, that's a red flag — behavior change is the real proof, not the metric alone.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03</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Who It's For</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Roles in scope, and what's deliberately excluded</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sp>
        <p:nvSpPr>
          <p:cNvPr id="8" name="Rounded Rectangle 7"/>
          <p:cNvSpPr/>
          <p:nvPr/>
        </p:nvSpPr>
        <p:spPr>
          <a:xfrm>
            <a:off x="502920" y="1600200"/>
            <a:ext cx="3611880" cy="1965960"/>
          </a:xfrm>
          <a:prstGeom prst="roundRect">
            <a:avLst>
              <a:gd name="adj" fmla="val 5000"/>
            </a:avLst>
          </a:prstGeom>
          <a:solidFill>
            <a:srgbClr val="FFFFFF"/>
          </a:solidFill>
          <a:ln w="19050">
            <a:solidFill>
              <a:srgbClr val="4FB0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37360"/>
            <a:ext cx="3200400" cy="274320"/>
          </a:xfrm>
          <a:prstGeom prst="rect">
            <a:avLst/>
          </a:prstGeom>
          <a:noFill/>
        </p:spPr>
        <p:txBody>
          <a:bodyPr wrap="square" anchor="t" lIns="0" rIns="0" tIns="0" bIns="0">
            <a:spAutoFit/>
          </a:bodyPr>
          <a:lstStyle/>
          <a:p>
            <a:pPr algn="l">
              <a:lnSpc>
                <a:spcPct val="100000"/>
              </a:lnSpc>
            </a:pPr>
            <a:r>
              <a:rPr sz="1050" b="1" i="0">
                <a:solidFill>
                  <a:srgbClr val="4FB093"/>
                </a:solidFill>
                <a:latin typeface="Calibri"/>
              </a:rPr>
              <a:t>PRIMARY USER</a:t>
            </a:r>
          </a:p>
        </p:txBody>
      </p:sp>
      <p:sp>
        <p:nvSpPr>
          <p:cNvPr id="10" name="TextBox 9"/>
          <p:cNvSpPr txBox="1"/>
          <p:nvPr/>
        </p:nvSpPr>
        <p:spPr>
          <a:xfrm>
            <a:off x="731520" y="2029968"/>
            <a:ext cx="3200400" cy="457200"/>
          </a:xfrm>
          <a:prstGeom prst="rect">
            <a:avLst/>
          </a:prstGeom>
          <a:noFill/>
        </p:spPr>
        <p:txBody>
          <a:bodyPr wrap="square" anchor="t" lIns="0" rIns="0" tIns="0" bIns="0">
            <a:spAutoFit/>
          </a:bodyPr>
          <a:lstStyle/>
          <a:p>
            <a:pPr algn="l">
              <a:lnSpc>
                <a:spcPct val="100000"/>
              </a:lnSpc>
            </a:pPr>
            <a:r>
              <a:rPr sz="1600" b="1" i="0">
                <a:solidFill>
                  <a:srgbClr val="123D30"/>
                </a:solidFill>
                <a:latin typeface="Georgia"/>
              </a:rPr>
              <a:t>HR Admin — “Rita”</a:t>
            </a:r>
          </a:p>
        </p:txBody>
      </p:sp>
      <p:sp>
        <p:nvSpPr>
          <p:cNvPr id="11" name="TextBox 10"/>
          <p:cNvSpPr txBox="1"/>
          <p:nvPr/>
        </p:nvSpPr>
        <p:spPr>
          <a:xfrm>
            <a:off x="731520" y="2542032"/>
            <a:ext cx="3200400" cy="914400"/>
          </a:xfrm>
          <a:prstGeom prst="rect">
            <a:avLst/>
          </a:prstGeom>
          <a:noFill/>
        </p:spPr>
        <p:txBody>
          <a:bodyPr wrap="square" anchor="t" lIns="0" rIns="0" tIns="0" bIns="0">
            <a:spAutoFit/>
          </a:bodyPr>
          <a:lstStyle/>
          <a:p>
            <a:pPr algn="l">
              <a:lnSpc>
                <a:spcPct val="115000"/>
              </a:lnSpc>
            </a:pPr>
            <a:r>
              <a:rPr sz="1150" b="0" i="0">
                <a:solidFill>
                  <a:srgbClr val="222A24"/>
                </a:solidFill>
                <a:latin typeface="Calibri"/>
              </a:rPr>
              <a:t>Assigns skills, reads the dashboard, makes readiness calls, and can manually mark someone ready when she has other grounds for confidence.</a:t>
            </a:r>
          </a:p>
        </p:txBody>
      </p:sp>
      <p:sp>
        <p:nvSpPr>
          <p:cNvPr id="12" name="Rounded Rectangle 11"/>
          <p:cNvSpPr/>
          <p:nvPr/>
        </p:nvSpPr>
        <p:spPr>
          <a:xfrm>
            <a:off x="4297680" y="1600200"/>
            <a:ext cx="3611880" cy="1965960"/>
          </a:xfrm>
          <a:prstGeom prst="roundRect">
            <a:avLst>
              <a:gd name="adj" fmla="val 5000"/>
            </a:avLst>
          </a:prstGeom>
          <a:solidFill>
            <a:srgbClr val="FFFFFF"/>
          </a:solidFill>
          <a:ln w="19050">
            <a:solidFill>
              <a:srgbClr val="C99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737360"/>
            <a:ext cx="3200400" cy="274320"/>
          </a:xfrm>
          <a:prstGeom prst="rect">
            <a:avLst/>
          </a:prstGeom>
          <a:noFill/>
        </p:spPr>
        <p:txBody>
          <a:bodyPr wrap="square" anchor="t" lIns="0" rIns="0" tIns="0" bIns="0">
            <a:spAutoFit/>
          </a:bodyPr>
          <a:lstStyle/>
          <a:p>
            <a:pPr algn="l">
              <a:lnSpc>
                <a:spcPct val="100000"/>
              </a:lnSpc>
            </a:pPr>
            <a:r>
              <a:rPr sz="1050" b="1" i="0">
                <a:solidFill>
                  <a:srgbClr val="C99A3E"/>
                </a:solidFill>
                <a:latin typeface="Calibri"/>
              </a:rPr>
              <a:t>SECONDARY USER</a:t>
            </a:r>
          </a:p>
        </p:txBody>
      </p:sp>
      <p:sp>
        <p:nvSpPr>
          <p:cNvPr id="14" name="TextBox 13"/>
          <p:cNvSpPr txBox="1"/>
          <p:nvPr/>
        </p:nvSpPr>
        <p:spPr>
          <a:xfrm>
            <a:off x="4526280" y="2029968"/>
            <a:ext cx="3200400" cy="457200"/>
          </a:xfrm>
          <a:prstGeom prst="rect">
            <a:avLst/>
          </a:prstGeom>
          <a:noFill/>
        </p:spPr>
        <p:txBody>
          <a:bodyPr wrap="square" anchor="t" lIns="0" rIns="0" tIns="0" bIns="0">
            <a:spAutoFit/>
          </a:bodyPr>
          <a:lstStyle/>
          <a:p>
            <a:pPr algn="l">
              <a:lnSpc>
                <a:spcPct val="100000"/>
              </a:lnSpc>
            </a:pPr>
            <a:r>
              <a:rPr sz="1600" b="1" i="0">
                <a:solidFill>
                  <a:srgbClr val="123D30"/>
                </a:solidFill>
                <a:latin typeface="Georgia"/>
              </a:rPr>
              <a:t>Employee — “Casey”</a:t>
            </a:r>
          </a:p>
        </p:txBody>
      </p:sp>
      <p:sp>
        <p:nvSpPr>
          <p:cNvPr id="15" name="TextBox 14"/>
          <p:cNvSpPr txBox="1"/>
          <p:nvPr/>
        </p:nvSpPr>
        <p:spPr>
          <a:xfrm>
            <a:off x="4526280" y="2542032"/>
            <a:ext cx="3200400" cy="914400"/>
          </a:xfrm>
          <a:prstGeom prst="rect">
            <a:avLst/>
          </a:prstGeom>
          <a:noFill/>
        </p:spPr>
        <p:txBody>
          <a:bodyPr wrap="square" anchor="t" lIns="0" rIns="0" tIns="0" bIns="0">
            <a:spAutoFit/>
          </a:bodyPr>
          <a:lstStyle/>
          <a:p>
            <a:pPr algn="l">
              <a:lnSpc>
                <a:spcPct val="115000"/>
              </a:lnSpc>
            </a:pPr>
            <a:r>
              <a:rPr sz="1150" b="0" i="0">
                <a:solidFill>
                  <a:srgbClr val="222A24"/>
                </a:solidFill>
                <a:latin typeface="Calibri"/>
              </a:rPr>
              <a:t>Receives assigned skills, watches recommended content, resumes videos. Never types a status update.</a:t>
            </a:r>
          </a:p>
        </p:txBody>
      </p:sp>
      <p:sp>
        <p:nvSpPr>
          <p:cNvPr id="16" name="Rounded Rectangle 15"/>
          <p:cNvSpPr/>
          <p:nvPr/>
        </p:nvSpPr>
        <p:spPr>
          <a:xfrm>
            <a:off x="8092440" y="1600200"/>
            <a:ext cx="3611880" cy="1965960"/>
          </a:xfrm>
          <a:prstGeom prst="roundRect">
            <a:avLst>
              <a:gd name="adj" fmla="val 5000"/>
            </a:avLst>
          </a:prstGeom>
          <a:solidFill>
            <a:srgbClr val="FFFFFF"/>
          </a:solidFill>
          <a:ln w="19050">
            <a:solidFill>
              <a:srgbClr val="A9A0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737360"/>
            <a:ext cx="3200400" cy="274320"/>
          </a:xfrm>
          <a:prstGeom prst="rect">
            <a:avLst/>
          </a:prstGeom>
          <a:noFill/>
        </p:spPr>
        <p:txBody>
          <a:bodyPr wrap="square" anchor="t" lIns="0" rIns="0" tIns="0" bIns="0">
            <a:spAutoFit/>
          </a:bodyPr>
          <a:lstStyle/>
          <a:p>
            <a:pPr algn="l">
              <a:lnSpc>
                <a:spcPct val="100000"/>
              </a:lnSpc>
            </a:pPr>
            <a:r>
              <a:rPr sz="1050" b="1" i="0">
                <a:solidFill>
                  <a:srgbClr val="A9A08E"/>
                </a:solidFill>
                <a:latin typeface="Calibri"/>
              </a:rPr>
              <a:t>NOT IN V1</a:t>
            </a:r>
          </a:p>
        </p:txBody>
      </p:sp>
      <p:sp>
        <p:nvSpPr>
          <p:cNvPr id="18" name="TextBox 17"/>
          <p:cNvSpPr txBox="1"/>
          <p:nvPr/>
        </p:nvSpPr>
        <p:spPr>
          <a:xfrm>
            <a:off x="8321040" y="2029968"/>
            <a:ext cx="3200400" cy="457200"/>
          </a:xfrm>
          <a:prstGeom prst="rect">
            <a:avLst/>
          </a:prstGeom>
          <a:noFill/>
        </p:spPr>
        <p:txBody>
          <a:bodyPr wrap="square" anchor="t" lIns="0" rIns="0" tIns="0" bIns="0">
            <a:spAutoFit/>
          </a:bodyPr>
          <a:lstStyle/>
          <a:p>
            <a:pPr algn="l">
              <a:lnSpc>
                <a:spcPct val="100000"/>
              </a:lnSpc>
            </a:pPr>
            <a:r>
              <a:rPr sz="1600" b="1" i="0">
                <a:solidFill>
                  <a:srgbClr val="123D30"/>
                </a:solidFill>
                <a:latin typeface="Georgia"/>
              </a:rPr>
              <a:t>Manager / Team Lead</a:t>
            </a:r>
          </a:p>
        </p:txBody>
      </p:sp>
      <p:sp>
        <p:nvSpPr>
          <p:cNvPr id="19" name="TextBox 18"/>
          <p:cNvSpPr txBox="1"/>
          <p:nvPr/>
        </p:nvSpPr>
        <p:spPr>
          <a:xfrm>
            <a:off x="8321040" y="2542032"/>
            <a:ext cx="3200400" cy="914400"/>
          </a:xfrm>
          <a:prstGeom prst="rect">
            <a:avLst/>
          </a:prstGeom>
          <a:noFill/>
        </p:spPr>
        <p:txBody>
          <a:bodyPr wrap="square" anchor="t" lIns="0" rIns="0" tIns="0" bIns="0">
            <a:spAutoFit/>
          </a:bodyPr>
          <a:lstStyle/>
          <a:p>
            <a:pPr algn="l">
              <a:lnSpc>
                <a:spcPct val="115000"/>
              </a:lnSpc>
            </a:pPr>
            <a:r>
              <a:rPr sz="1150" b="0" i="0">
                <a:solidFill>
                  <a:srgbClr val="222A24"/>
                </a:solidFill>
                <a:latin typeface="Calibri"/>
              </a:rPr>
              <a:t>Explicitly not a role in this product. Considered and dropped — revisit only if a real pilot demands it.</a:t>
            </a:r>
          </a:p>
        </p:txBody>
      </p:sp>
      <p:sp>
        <p:nvSpPr>
          <p:cNvPr id="20" name="TextBox 19"/>
          <p:cNvSpPr txBox="1"/>
          <p:nvPr/>
        </p:nvSpPr>
        <p:spPr>
          <a:xfrm>
            <a:off x="502920" y="3840480"/>
            <a:ext cx="10058400" cy="320040"/>
          </a:xfrm>
          <a:prstGeom prst="rect">
            <a:avLst/>
          </a:prstGeom>
          <a:noFill/>
        </p:spPr>
        <p:txBody>
          <a:bodyPr wrap="square" anchor="t" lIns="0" rIns="0" tIns="0" bIns="0">
            <a:spAutoFit/>
          </a:bodyPr>
          <a:lstStyle/>
          <a:p>
            <a:pPr algn="l">
              <a:lnSpc>
                <a:spcPct val="100000"/>
              </a:lnSpc>
            </a:pPr>
            <a:r>
              <a:rPr sz="1500" b="1" i="0">
                <a:solidFill>
                  <a:srgbClr val="123D30"/>
                </a:solidFill>
                <a:latin typeface="Georgia"/>
              </a:rPr>
              <a:t>Explicitly Out of Scope — On Purpose</a:t>
            </a:r>
          </a:p>
        </p:txBody>
      </p:sp>
      <p:sp>
        <p:nvSpPr>
          <p:cNvPr id="21" name="TextBox 20"/>
          <p:cNvSpPr txBox="1"/>
          <p:nvPr/>
        </p:nvSpPr>
        <p:spPr>
          <a:xfrm>
            <a:off x="502920" y="4251960"/>
            <a:ext cx="320040" cy="320040"/>
          </a:xfrm>
          <a:prstGeom prst="rect">
            <a:avLst/>
          </a:prstGeom>
          <a:noFill/>
        </p:spPr>
        <p:txBody>
          <a:bodyPr wrap="square" anchor="t" lIns="0" rIns="0" tIns="0" bIns="0">
            <a:spAutoFit/>
          </a:bodyPr>
          <a:lstStyle/>
          <a:p>
            <a:pPr algn="l">
              <a:lnSpc>
                <a:spcPct val="100000"/>
              </a:lnSpc>
            </a:pPr>
            <a:r>
              <a:rPr sz="1300" b="1" i="0">
                <a:solidFill>
                  <a:srgbClr val="B54B3A"/>
                </a:solidFill>
                <a:latin typeface="Calibri"/>
              </a:rPr>
              <a:t>✕</a:t>
            </a:r>
          </a:p>
        </p:txBody>
      </p:sp>
      <p:sp>
        <p:nvSpPr>
          <p:cNvPr id="22" name="TextBox 21"/>
          <p:cNvSpPr txBox="1"/>
          <p:nvPr/>
        </p:nvSpPr>
        <p:spPr>
          <a:xfrm>
            <a:off x="822960" y="4251960"/>
            <a:ext cx="5212080" cy="548640"/>
          </a:xfrm>
          <a:prstGeom prst="rect">
            <a:avLst/>
          </a:prstGeom>
          <a:noFill/>
        </p:spPr>
        <p:txBody>
          <a:bodyPr wrap="square" anchor="t" lIns="0" rIns="0" tIns="0" bIns="0">
            <a:spAutoFit/>
          </a:bodyPr>
          <a:lstStyle/>
          <a:p>
            <a:pPr algn="l">
              <a:lnSpc>
                <a:spcPct val="105000"/>
              </a:lnSpc>
            </a:pPr>
            <a:r>
              <a:rPr sz="1150" b="0" i="0">
                <a:solidFill>
                  <a:srgbClr val="222A24"/>
                </a:solidFill>
                <a:latin typeface="Calibri"/>
              </a:rPr>
              <a:t>Not a full LMS/LXP — no course catalog, learning paths, or certifications.</a:t>
            </a:r>
          </a:p>
        </p:txBody>
      </p:sp>
      <p:sp>
        <p:nvSpPr>
          <p:cNvPr id="23" name="TextBox 22"/>
          <p:cNvSpPr txBox="1"/>
          <p:nvPr/>
        </p:nvSpPr>
        <p:spPr>
          <a:xfrm>
            <a:off x="6126480" y="4251960"/>
            <a:ext cx="320040" cy="320040"/>
          </a:xfrm>
          <a:prstGeom prst="rect">
            <a:avLst/>
          </a:prstGeom>
          <a:noFill/>
        </p:spPr>
        <p:txBody>
          <a:bodyPr wrap="square" anchor="t" lIns="0" rIns="0" tIns="0" bIns="0">
            <a:spAutoFit/>
          </a:bodyPr>
          <a:lstStyle/>
          <a:p>
            <a:pPr algn="l">
              <a:lnSpc>
                <a:spcPct val="100000"/>
              </a:lnSpc>
            </a:pPr>
            <a:r>
              <a:rPr sz="1300" b="1" i="0">
                <a:solidFill>
                  <a:srgbClr val="B54B3A"/>
                </a:solidFill>
                <a:latin typeface="Calibri"/>
              </a:rPr>
              <a:t>✕</a:t>
            </a:r>
          </a:p>
        </p:txBody>
      </p:sp>
      <p:sp>
        <p:nvSpPr>
          <p:cNvPr id="24" name="TextBox 23"/>
          <p:cNvSpPr txBox="1"/>
          <p:nvPr/>
        </p:nvSpPr>
        <p:spPr>
          <a:xfrm>
            <a:off x="6446520" y="4251960"/>
            <a:ext cx="5212080" cy="548640"/>
          </a:xfrm>
          <a:prstGeom prst="rect">
            <a:avLst/>
          </a:prstGeom>
          <a:noFill/>
        </p:spPr>
        <p:txBody>
          <a:bodyPr wrap="square" anchor="t" lIns="0" rIns="0" tIns="0" bIns="0">
            <a:spAutoFit/>
          </a:bodyPr>
          <a:lstStyle/>
          <a:p>
            <a:pPr algn="l">
              <a:lnSpc>
                <a:spcPct val="105000"/>
              </a:lnSpc>
            </a:pPr>
            <a:r>
              <a:rPr sz="1150" b="0" i="0">
                <a:solidFill>
                  <a:srgbClr val="222A24"/>
                </a:solidFill>
                <a:latin typeface="Calibri"/>
              </a:rPr>
              <a:t>Not a skill-gap detector — HR always assigns explicitly; the system never decides what to learn.</a:t>
            </a:r>
          </a:p>
        </p:txBody>
      </p:sp>
      <p:sp>
        <p:nvSpPr>
          <p:cNvPr id="25" name="TextBox 24"/>
          <p:cNvSpPr txBox="1"/>
          <p:nvPr/>
        </p:nvSpPr>
        <p:spPr>
          <a:xfrm>
            <a:off x="502920" y="4818888"/>
            <a:ext cx="320040" cy="320040"/>
          </a:xfrm>
          <a:prstGeom prst="rect">
            <a:avLst/>
          </a:prstGeom>
          <a:noFill/>
        </p:spPr>
        <p:txBody>
          <a:bodyPr wrap="square" anchor="t" lIns="0" rIns="0" tIns="0" bIns="0">
            <a:spAutoFit/>
          </a:bodyPr>
          <a:lstStyle/>
          <a:p>
            <a:pPr algn="l">
              <a:lnSpc>
                <a:spcPct val="100000"/>
              </a:lnSpc>
            </a:pPr>
            <a:r>
              <a:rPr sz="1300" b="1" i="0">
                <a:solidFill>
                  <a:srgbClr val="B54B3A"/>
                </a:solidFill>
                <a:latin typeface="Calibri"/>
              </a:rPr>
              <a:t>✕</a:t>
            </a:r>
          </a:p>
        </p:txBody>
      </p:sp>
      <p:sp>
        <p:nvSpPr>
          <p:cNvPr id="26" name="TextBox 25"/>
          <p:cNvSpPr txBox="1"/>
          <p:nvPr/>
        </p:nvSpPr>
        <p:spPr>
          <a:xfrm>
            <a:off x="822960" y="4818888"/>
            <a:ext cx="5212080" cy="548640"/>
          </a:xfrm>
          <a:prstGeom prst="rect">
            <a:avLst/>
          </a:prstGeom>
          <a:noFill/>
        </p:spPr>
        <p:txBody>
          <a:bodyPr wrap="square" anchor="t" lIns="0" rIns="0" tIns="0" bIns="0">
            <a:spAutoFit/>
          </a:bodyPr>
          <a:lstStyle/>
          <a:p>
            <a:pPr algn="l">
              <a:lnSpc>
                <a:spcPct val="105000"/>
              </a:lnSpc>
            </a:pPr>
            <a:r>
              <a:rPr sz="1150" b="0" i="0">
                <a:solidFill>
                  <a:srgbClr val="222A24"/>
                </a:solidFill>
                <a:latin typeface="Calibri"/>
              </a:rPr>
              <a:t>Not a performance-evaluation input — watch data is coaching-only, structurally blocked from reviews.</a:t>
            </a:r>
          </a:p>
        </p:txBody>
      </p:sp>
      <p:sp>
        <p:nvSpPr>
          <p:cNvPr id="27" name="TextBox 26"/>
          <p:cNvSpPr txBox="1"/>
          <p:nvPr/>
        </p:nvSpPr>
        <p:spPr>
          <a:xfrm>
            <a:off x="6126480" y="4818888"/>
            <a:ext cx="320040" cy="320040"/>
          </a:xfrm>
          <a:prstGeom prst="rect">
            <a:avLst/>
          </a:prstGeom>
          <a:noFill/>
        </p:spPr>
        <p:txBody>
          <a:bodyPr wrap="square" anchor="t" lIns="0" rIns="0" tIns="0" bIns="0">
            <a:spAutoFit/>
          </a:bodyPr>
          <a:lstStyle/>
          <a:p>
            <a:pPr algn="l">
              <a:lnSpc>
                <a:spcPct val="100000"/>
              </a:lnSpc>
            </a:pPr>
            <a:r>
              <a:rPr sz="1300" b="1" i="0">
                <a:solidFill>
                  <a:srgbClr val="B54B3A"/>
                </a:solidFill>
                <a:latin typeface="Calibri"/>
              </a:rPr>
              <a:t>✕</a:t>
            </a:r>
          </a:p>
        </p:txBody>
      </p:sp>
      <p:sp>
        <p:nvSpPr>
          <p:cNvPr id="28" name="TextBox 27"/>
          <p:cNvSpPr txBox="1"/>
          <p:nvPr/>
        </p:nvSpPr>
        <p:spPr>
          <a:xfrm>
            <a:off x="6446520" y="4818888"/>
            <a:ext cx="5212080" cy="548640"/>
          </a:xfrm>
          <a:prstGeom prst="rect">
            <a:avLst/>
          </a:prstGeom>
          <a:noFill/>
        </p:spPr>
        <p:txBody>
          <a:bodyPr wrap="square" anchor="t" lIns="0" rIns="0" tIns="0" bIns="0">
            <a:spAutoFit/>
          </a:bodyPr>
          <a:lstStyle/>
          <a:p>
            <a:pPr algn="l">
              <a:lnSpc>
                <a:spcPct val="105000"/>
              </a:lnSpc>
            </a:pPr>
            <a:r>
              <a:rPr sz="1150" b="0" i="0">
                <a:solidFill>
                  <a:srgbClr val="222A24"/>
                </a:solidFill>
                <a:latin typeface="Calibri"/>
              </a:rPr>
              <a:t>Not tracking documents or websites — only video is auto-verified; others stay self-reported.</a:t>
            </a:r>
          </a:p>
        </p:txBody>
      </p:sp>
      <p:sp>
        <p:nvSpPr>
          <p:cNvPr id="29" name="TextBox 28"/>
          <p:cNvSpPr txBox="1"/>
          <p:nvPr/>
        </p:nvSpPr>
        <p:spPr>
          <a:xfrm>
            <a:off x="502920" y="5385816"/>
            <a:ext cx="320040" cy="320040"/>
          </a:xfrm>
          <a:prstGeom prst="rect">
            <a:avLst/>
          </a:prstGeom>
          <a:noFill/>
        </p:spPr>
        <p:txBody>
          <a:bodyPr wrap="square" anchor="t" lIns="0" rIns="0" tIns="0" bIns="0">
            <a:spAutoFit/>
          </a:bodyPr>
          <a:lstStyle/>
          <a:p>
            <a:pPr algn="l">
              <a:lnSpc>
                <a:spcPct val="100000"/>
              </a:lnSpc>
            </a:pPr>
            <a:r>
              <a:rPr sz="1300" b="1" i="0">
                <a:solidFill>
                  <a:srgbClr val="B54B3A"/>
                </a:solidFill>
                <a:latin typeface="Calibri"/>
              </a:rPr>
              <a:t>✕</a:t>
            </a:r>
          </a:p>
        </p:txBody>
      </p:sp>
      <p:sp>
        <p:nvSpPr>
          <p:cNvPr id="30" name="TextBox 29"/>
          <p:cNvSpPr txBox="1"/>
          <p:nvPr/>
        </p:nvSpPr>
        <p:spPr>
          <a:xfrm>
            <a:off x="822960" y="5385816"/>
            <a:ext cx="5212080" cy="548640"/>
          </a:xfrm>
          <a:prstGeom prst="rect">
            <a:avLst/>
          </a:prstGeom>
          <a:noFill/>
        </p:spPr>
        <p:txBody>
          <a:bodyPr wrap="square" anchor="t" lIns="0" rIns="0" tIns="0" bIns="0">
            <a:spAutoFit/>
          </a:bodyPr>
          <a:lstStyle/>
          <a:p>
            <a:pPr algn="l">
              <a:lnSpc>
                <a:spcPct val="105000"/>
              </a:lnSpc>
            </a:pPr>
            <a:r>
              <a:rPr sz="1150" b="0" i="0">
                <a:solidFill>
                  <a:srgbClr val="222A24"/>
                </a:solidFill>
                <a:latin typeface="Calibri"/>
              </a:rPr>
              <a:t>No content-approval workflow — AI-recommended content reaches employees with no human QA gate.</a:t>
            </a:r>
          </a:p>
        </p:txBody>
      </p:sp>
      <p:sp>
        <p:nvSpPr>
          <p:cNvPr id="31" name="TextBox 30"/>
          <p:cNvSpPr txBox="1"/>
          <p:nvPr/>
        </p:nvSpPr>
        <p:spPr>
          <a:xfrm>
            <a:off x="6126480" y="5385816"/>
            <a:ext cx="320040" cy="320040"/>
          </a:xfrm>
          <a:prstGeom prst="rect">
            <a:avLst/>
          </a:prstGeom>
          <a:noFill/>
        </p:spPr>
        <p:txBody>
          <a:bodyPr wrap="square" anchor="t" lIns="0" rIns="0" tIns="0" bIns="0">
            <a:spAutoFit/>
          </a:bodyPr>
          <a:lstStyle/>
          <a:p>
            <a:pPr algn="l">
              <a:lnSpc>
                <a:spcPct val="100000"/>
              </a:lnSpc>
            </a:pPr>
            <a:r>
              <a:rPr sz="1300" b="1" i="0">
                <a:solidFill>
                  <a:srgbClr val="B54B3A"/>
                </a:solidFill>
                <a:latin typeface="Calibri"/>
              </a:rPr>
              <a:t>✕</a:t>
            </a:r>
          </a:p>
        </p:txBody>
      </p:sp>
      <p:sp>
        <p:nvSpPr>
          <p:cNvPr id="32" name="TextBox 31"/>
          <p:cNvSpPr txBox="1"/>
          <p:nvPr/>
        </p:nvSpPr>
        <p:spPr>
          <a:xfrm>
            <a:off x="6446520" y="5385816"/>
            <a:ext cx="5212080" cy="548640"/>
          </a:xfrm>
          <a:prstGeom prst="rect">
            <a:avLst/>
          </a:prstGeom>
          <a:noFill/>
        </p:spPr>
        <p:txBody>
          <a:bodyPr wrap="square" anchor="t" lIns="0" rIns="0" tIns="0" bIns="0">
            <a:spAutoFit/>
          </a:bodyPr>
          <a:lstStyle/>
          <a:p>
            <a:pPr algn="l">
              <a:lnSpc>
                <a:spcPct val="105000"/>
              </a:lnSpc>
            </a:pPr>
            <a:r>
              <a:rPr sz="1150" b="0" i="0">
                <a:solidFill>
                  <a:srgbClr val="222A24"/>
                </a:solidFill>
                <a:latin typeface="Calibri"/>
              </a:rPr>
              <a:t>Not a commercial product — an internal pilot for SAILS Software's own HR function.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04</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Requirements — Feature Overview</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14 functional requirements across five features (source: prd.md)</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graphicFrame>
        <p:nvGraphicFramePr>
          <p:cNvPr id="8" name="Table 7"/>
          <p:cNvGraphicFramePr>
            <a:graphicFrameLocks noGrp="1"/>
          </p:cNvGraphicFramePr>
          <p:nvPr/>
        </p:nvGraphicFramePr>
        <p:xfrm>
          <a:off x="502920" y="1600200"/>
          <a:ext cx="11201400" cy="4434840"/>
        </p:xfrm>
        <a:graphic>
          <a:graphicData uri="http://schemas.openxmlformats.org/drawingml/2006/table">
            <a:tbl>
              <a:tblPr firstRow="1" bandRow="1">
                <a:tableStyleId>{5C22544A-7EE6-4342-B048-85BDC9FD1C3A}</a:tableStyleId>
              </a:tblPr>
              <a:tblGrid>
                <a:gridCol w="548640"/>
                <a:gridCol w="2468880"/>
                <a:gridCol w="1234440"/>
                <a:gridCol w="6949440"/>
              </a:tblGrid>
              <a:tr h="739140">
                <a:tc>
                  <a:txBody>
                    <a:bodyPr/>
                    <a:lstStyle/>
                    <a:p>
                      <a:pPr algn="l"/>
                      <a:r>
                        <a:rPr b="1" sz="1300">
                          <a:solidFill>
                            <a:srgbClr val="FFFFFF"/>
                          </a:solidFill>
                          <a:latin typeface="Calibri"/>
                        </a:rPr>
                        <a:t>§</a:t>
                      </a:r>
                    </a:p>
                  </a:txBody>
                  <a:tcPr anchor="ctr">
                    <a:solidFill>
                      <a:srgbClr val="123D30"/>
                    </a:solidFill>
                  </a:tcPr>
                </a:tc>
                <a:tc>
                  <a:txBody>
                    <a:bodyPr/>
                    <a:lstStyle/>
                    <a:p>
                      <a:pPr algn="l"/>
                      <a:r>
                        <a:rPr b="1" sz="1300">
                          <a:solidFill>
                            <a:srgbClr val="FFFFFF"/>
                          </a:solidFill>
                          <a:latin typeface="Calibri"/>
                        </a:rPr>
                        <a:t>Feature</a:t>
                      </a:r>
                    </a:p>
                  </a:txBody>
                  <a:tcPr anchor="ctr">
                    <a:solidFill>
                      <a:srgbClr val="123D30"/>
                    </a:solidFill>
                  </a:tcPr>
                </a:tc>
                <a:tc>
                  <a:txBody>
                    <a:bodyPr/>
                    <a:lstStyle/>
                    <a:p>
                      <a:pPr algn="l"/>
                      <a:r>
                        <a:rPr b="1" sz="1300">
                          <a:solidFill>
                            <a:srgbClr val="FFFFFF"/>
                          </a:solidFill>
                          <a:latin typeface="Calibri"/>
                        </a:rPr>
                        <a:t>FRs</a:t>
                      </a:r>
                    </a:p>
                  </a:txBody>
                  <a:tcPr anchor="ctr">
                    <a:solidFill>
                      <a:srgbClr val="123D30"/>
                    </a:solidFill>
                  </a:tcPr>
                </a:tc>
                <a:tc>
                  <a:txBody>
                    <a:bodyPr/>
                    <a:lstStyle/>
                    <a:p>
                      <a:pPr algn="l"/>
                      <a:r>
                        <a:rPr b="1" sz="1300">
                          <a:solidFill>
                            <a:srgbClr val="FFFFFF"/>
                          </a:solidFill>
                          <a:latin typeface="Calibri"/>
                        </a:rPr>
                        <a:t>What it means in practice</a:t>
                      </a:r>
                    </a:p>
                  </a:txBody>
                  <a:tcPr anchor="ctr">
                    <a:solidFill>
                      <a:srgbClr val="123D30"/>
                    </a:solidFill>
                  </a:tcPr>
                </a:tc>
              </a:tr>
              <a:tr h="739140">
                <a:tc>
                  <a:txBody>
                    <a:bodyPr/>
                    <a:lstStyle/>
                    <a:p>
                      <a:r>
                        <a:rPr sz="1150">
                          <a:solidFill>
                            <a:srgbClr val="222A24"/>
                          </a:solidFill>
                          <a:latin typeface="Calibri"/>
                        </a:rPr>
                        <a:t>4.1</a:t>
                      </a:r>
                    </a:p>
                  </a:txBody>
                  <a:tcPr anchor="ctr" marT="50800" marB="50800">
                    <a:solidFill>
                      <a:srgbClr val="FFFFFF"/>
                    </a:solidFill>
                  </a:tcPr>
                </a:tc>
                <a:tc>
                  <a:txBody>
                    <a:bodyPr/>
                    <a:lstStyle/>
                    <a:p>
                      <a:r>
                        <a:rPr sz="1150">
                          <a:solidFill>
                            <a:srgbClr val="222A24"/>
                          </a:solidFill>
                          <a:latin typeface="Calibri"/>
                        </a:rPr>
                        <a:t>Skill Assignment Flow</a:t>
                      </a:r>
                    </a:p>
                  </a:txBody>
                  <a:tcPr anchor="ctr" marT="50800" marB="50800">
                    <a:solidFill>
                      <a:srgbClr val="FFFFFF"/>
                    </a:solidFill>
                  </a:tcPr>
                </a:tc>
                <a:tc>
                  <a:txBody>
                    <a:bodyPr/>
                    <a:lstStyle/>
                    <a:p>
                      <a:r>
                        <a:rPr sz="1150">
                          <a:solidFill>
                            <a:srgbClr val="222A24"/>
                          </a:solidFill>
                          <a:latin typeface="Calibri"/>
                        </a:rPr>
                        <a:t>FR-1, FR-2</a:t>
                      </a:r>
                    </a:p>
                  </a:txBody>
                  <a:tcPr anchor="ctr" marT="50800" marB="50800">
                    <a:solidFill>
                      <a:srgbClr val="FFFFFF"/>
                    </a:solidFill>
                  </a:tcPr>
                </a:tc>
                <a:tc>
                  <a:txBody>
                    <a:bodyPr/>
                    <a:lstStyle/>
                    <a:p>
                      <a:r>
                        <a:rPr sz="1150">
                          <a:solidFill>
                            <a:srgbClr val="222A24"/>
                          </a:solidFill>
                          <a:latin typeface="Calibri"/>
                        </a:rPr>
                        <a:t>3-step flow (employee → skill → AI content → confirm) in &lt;2 min; re-assigning surfaces the existing record; cancel leaves nothing behind.</a:t>
                      </a:r>
                    </a:p>
                  </a:txBody>
                  <a:tcPr anchor="ctr" marT="50800" marB="50800">
                    <a:solidFill>
                      <a:srgbClr val="FFFFFF"/>
                    </a:solidFill>
                  </a:tcPr>
                </a:tc>
              </a:tr>
              <a:tr h="739140">
                <a:tc>
                  <a:txBody>
                    <a:bodyPr/>
                    <a:lstStyle/>
                    <a:p>
                      <a:r>
                        <a:rPr sz="1150">
                          <a:solidFill>
                            <a:srgbClr val="222A24"/>
                          </a:solidFill>
                          <a:latin typeface="Calibri"/>
                        </a:rPr>
                        <a:t>4.2</a:t>
                      </a:r>
                    </a:p>
                  </a:txBody>
                  <a:tcPr anchor="ctr" marT="50800" marB="50800">
                    <a:solidFill>
                      <a:srgbClr val="F1ECDD"/>
                    </a:solidFill>
                  </a:tcPr>
                </a:tc>
                <a:tc>
                  <a:txBody>
                    <a:bodyPr/>
                    <a:lstStyle/>
                    <a:p>
                      <a:r>
                        <a:rPr sz="1150">
                          <a:solidFill>
                            <a:srgbClr val="222A24"/>
                          </a:solidFill>
                          <a:latin typeface="Calibri"/>
                        </a:rPr>
                        <a:t>AI-Assisted Content Discovery</a:t>
                      </a:r>
                    </a:p>
                  </a:txBody>
                  <a:tcPr anchor="ctr" marT="50800" marB="50800">
                    <a:solidFill>
                      <a:srgbClr val="F1ECDD"/>
                    </a:solidFill>
                  </a:tcPr>
                </a:tc>
                <a:tc>
                  <a:txBody>
                    <a:bodyPr/>
                    <a:lstStyle/>
                    <a:p>
                      <a:r>
                        <a:rPr sz="1150">
                          <a:solidFill>
                            <a:srgbClr val="222A24"/>
                          </a:solidFill>
                          <a:latin typeface="Calibri"/>
                        </a:rPr>
                        <a:t>FR-3, FR-4</a:t>
                      </a:r>
                    </a:p>
                  </a:txBody>
                  <a:tcPr anchor="ctr" marT="50800" marB="50800">
                    <a:solidFill>
                      <a:srgbClr val="F1ECDD"/>
                    </a:solidFill>
                  </a:tcPr>
                </a:tc>
                <a:tc>
                  <a:txBody>
                    <a:bodyPr/>
                    <a:lstStyle/>
                    <a:p>
                      <a:r>
                        <a:rPr sz="1150">
                          <a:solidFill>
                            <a:srgbClr val="222A24"/>
                          </a:solidFill>
                          <a:latin typeface="Calibri"/>
                        </a:rPr>
                        <a:t>One semantic-match recommendation per skill; shows nothing rather than a bad guess; refreshed via scheduled batch job (YouTube quota).</a:t>
                      </a:r>
                    </a:p>
                  </a:txBody>
                  <a:tcPr anchor="ctr" marT="50800" marB="50800">
                    <a:solidFill>
                      <a:srgbClr val="F1ECDD"/>
                    </a:solidFill>
                  </a:tcPr>
                </a:tc>
              </a:tr>
              <a:tr h="739140">
                <a:tc>
                  <a:txBody>
                    <a:bodyPr/>
                    <a:lstStyle/>
                    <a:p>
                      <a:r>
                        <a:rPr sz="1150">
                          <a:solidFill>
                            <a:srgbClr val="222A24"/>
                          </a:solidFill>
                          <a:latin typeface="Calibri"/>
                        </a:rPr>
                        <a:t>4.3</a:t>
                      </a:r>
                    </a:p>
                  </a:txBody>
                  <a:tcPr anchor="ctr" marT="50800" marB="50800">
                    <a:solidFill>
                      <a:srgbClr val="FFFFFF"/>
                    </a:solidFill>
                  </a:tcPr>
                </a:tc>
                <a:tc>
                  <a:txBody>
                    <a:bodyPr/>
                    <a:lstStyle/>
                    <a:p>
                      <a:r>
                        <a:rPr sz="1150">
                          <a:solidFill>
                            <a:srgbClr val="222A24"/>
                          </a:solidFill>
                          <a:latin typeface="Calibri"/>
                        </a:rPr>
                        <a:t>Automatic Video Progress &amp; Resume</a:t>
                      </a:r>
                    </a:p>
                  </a:txBody>
                  <a:tcPr anchor="ctr" marT="50800" marB="50800">
                    <a:solidFill>
                      <a:srgbClr val="FFFFFF"/>
                    </a:solidFill>
                  </a:tcPr>
                </a:tc>
                <a:tc>
                  <a:txBody>
                    <a:bodyPr/>
                    <a:lstStyle/>
                    <a:p>
                      <a:r>
                        <a:rPr sz="1150">
                          <a:solidFill>
                            <a:srgbClr val="222A24"/>
                          </a:solidFill>
                          <a:latin typeface="Calibri"/>
                        </a:rPr>
                        <a:t>FR-5–FR-7</a:t>
                      </a:r>
                    </a:p>
                  </a:txBody>
                  <a:tcPr anchor="ctr" marT="50800" marB="50800">
                    <a:solidFill>
                      <a:srgbClr val="FFFFFF"/>
                    </a:solidFill>
                  </a:tcPr>
                </a:tc>
                <a:tc>
                  <a:txBody>
                    <a:bodyPr/>
                    <a:lstStyle/>
                    <a:p>
                      <a:r>
                        <a:rPr sz="1150">
                          <a:solidFill>
                            <a:srgbClr val="222A24"/>
                          </a:solidFill>
                          <a:latin typeface="Calibri"/>
                        </a:rPr>
                        <a:t>Silent capture every 5–10s; exact-spot resume is launch-blocking; conflicting tabs resolved by timestamp, not position.</a:t>
                      </a:r>
                    </a:p>
                  </a:txBody>
                  <a:tcPr anchor="ctr" marT="50800" marB="50800">
                    <a:solidFill>
                      <a:srgbClr val="FFFFFF"/>
                    </a:solidFill>
                  </a:tcPr>
                </a:tc>
              </a:tr>
              <a:tr h="739140">
                <a:tc>
                  <a:txBody>
                    <a:bodyPr/>
                    <a:lstStyle/>
                    <a:p>
                      <a:r>
                        <a:rPr sz="1150">
                          <a:solidFill>
                            <a:srgbClr val="222A24"/>
                          </a:solidFill>
                          <a:latin typeface="Calibri"/>
                        </a:rPr>
                        <a:t>4.4</a:t>
                      </a:r>
                    </a:p>
                  </a:txBody>
                  <a:tcPr anchor="ctr" marT="50800" marB="50800">
                    <a:solidFill>
                      <a:srgbClr val="F1ECDD"/>
                    </a:solidFill>
                  </a:tcPr>
                </a:tc>
                <a:tc>
                  <a:txBody>
                    <a:bodyPr/>
                    <a:lstStyle/>
                    <a:p>
                      <a:r>
                        <a:rPr sz="1150">
                          <a:solidFill>
                            <a:srgbClr val="222A24"/>
                          </a:solidFill>
                          <a:latin typeface="Calibri"/>
                        </a:rPr>
                        <a:t>Readiness Dashboard</a:t>
                      </a:r>
                    </a:p>
                  </a:txBody>
                  <a:tcPr anchor="ctr" marT="50800" marB="50800">
                    <a:solidFill>
                      <a:srgbClr val="F1ECDD"/>
                    </a:solidFill>
                  </a:tcPr>
                </a:tc>
                <a:tc>
                  <a:txBody>
                    <a:bodyPr/>
                    <a:lstStyle/>
                    <a:p>
                      <a:r>
                        <a:rPr sz="1150">
                          <a:solidFill>
                            <a:srgbClr val="222A24"/>
                          </a:solidFill>
                          <a:latin typeface="Calibri"/>
                        </a:rPr>
                        <a:t>FR-8–FR-12</a:t>
                      </a:r>
                    </a:p>
                  </a:txBody>
                  <a:tcPr anchor="ctr" marT="50800" marB="50800">
                    <a:solidFill>
                      <a:srgbClr val="F1ECDD"/>
                    </a:solidFill>
                  </a:tcPr>
                </a:tc>
                <a:tc>
                  <a:txBody>
                    <a:bodyPr/>
                    <a:lstStyle/>
                    <a:p>
                      <a:r>
                        <a:rPr sz="1150">
                          <a:solidFill>
                            <a:srgbClr val="222A24"/>
                          </a:solidFill>
                          <a:latin typeface="Calibri"/>
                        </a:rPr>
                        <a:t>Status badge + Provenance label (Verified / Self-reported / Needs Attention / HR Override); auto-updates within 30s; overrides reversible.</a:t>
                      </a:r>
                    </a:p>
                  </a:txBody>
                  <a:tcPr anchor="ctr" marT="50800" marB="50800">
                    <a:solidFill>
                      <a:srgbClr val="F1ECDD"/>
                    </a:solidFill>
                  </a:tcPr>
                </a:tc>
              </a:tr>
              <a:tr h="739140">
                <a:tc>
                  <a:txBody>
                    <a:bodyPr/>
                    <a:lstStyle/>
                    <a:p>
                      <a:r>
                        <a:rPr sz="1150">
                          <a:solidFill>
                            <a:srgbClr val="222A24"/>
                          </a:solidFill>
                          <a:latin typeface="Calibri"/>
                        </a:rPr>
                        <a:t>4.5</a:t>
                      </a:r>
                    </a:p>
                  </a:txBody>
                  <a:tcPr anchor="ctr" marT="50800" marB="50800">
                    <a:solidFill>
                      <a:srgbClr val="FFFFFF"/>
                    </a:solidFill>
                  </a:tcPr>
                </a:tc>
                <a:tc>
                  <a:txBody>
                    <a:bodyPr/>
                    <a:lstStyle/>
                    <a:p>
                      <a:r>
                        <a:rPr sz="1150">
                          <a:solidFill>
                            <a:srgbClr val="222A24"/>
                          </a:solidFill>
                          <a:latin typeface="Calibri"/>
                        </a:rPr>
                        <a:t>Authentication &amp; Login</a:t>
                      </a:r>
                    </a:p>
                  </a:txBody>
                  <a:tcPr anchor="ctr" marT="50800" marB="50800">
                    <a:solidFill>
                      <a:srgbClr val="FFFFFF"/>
                    </a:solidFill>
                  </a:tcPr>
                </a:tc>
                <a:tc>
                  <a:txBody>
                    <a:bodyPr/>
                    <a:lstStyle/>
                    <a:p>
                      <a:r>
                        <a:rPr sz="1150">
                          <a:solidFill>
                            <a:srgbClr val="222A24"/>
                          </a:solidFill>
                          <a:latin typeface="Calibri"/>
                        </a:rPr>
                        <a:t>FR-13, FR-14</a:t>
                      </a:r>
                    </a:p>
                  </a:txBody>
                  <a:tcPr anchor="ctr" marT="50800" marB="50800">
                    <a:solidFill>
                      <a:srgbClr val="FFFFFF"/>
                    </a:solidFill>
                  </a:tcPr>
                </a:tc>
                <a:tc>
                  <a:txBody>
                    <a:bodyPr/>
                    <a:lstStyle/>
                    <a:p>
                      <a:r>
                        <a:rPr sz="1150">
                          <a:solidFill>
                            <a:srgbClr val="222A24"/>
                          </a:solidFill>
                          <a:latin typeface="Calibri"/>
                        </a:rPr>
                        <a:t>No data reachable without login; session hard-scoped to one role/identity; sign-out kills the session immediately.</a:t>
                      </a:r>
                    </a:p>
                  </a:txBody>
                  <a:tcPr anchor="ctr" marT="50800" marB="50800">
                    <a:solidFill>
                      <a:srgbClr val="FFFFFF"/>
                    </a:solidFill>
                  </a:tcPr>
                </a:tc>
              </a:tr>
            </a:tbl>
          </a:graphicData>
        </a:graphic>
      </p:graphicFrame>
      <p:sp>
        <p:nvSpPr>
          <p:cNvPr id="9" name="TextBox 8"/>
          <p:cNvSpPr txBox="1"/>
          <p:nvPr/>
        </p:nvSpPr>
        <p:spPr>
          <a:xfrm>
            <a:off x="502920" y="6172200"/>
            <a:ext cx="11155680" cy="457200"/>
          </a:xfrm>
          <a:prstGeom prst="rect">
            <a:avLst/>
          </a:prstGeom>
          <a:noFill/>
        </p:spPr>
        <p:txBody>
          <a:bodyPr wrap="square" anchor="t" lIns="0" rIns="0" tIns="0" bIns="0">
            <a:spAutoFit/>
          </a:bodyPr>
          <a:lstStyle/>
          <a:p>
            <a:pPr algn="l">
              <a:lnSpc>
                <a:spcPct val="100000"/>
              </a:lnSpc>
            </a:pPr>
            <a:r>
              <a:rPr sz="1100" b="0" i="1">
                <a:solidFill>
                  <a:srgbClr val="5B665E"/>
                </a:solidFill>
                <a:latin typeface="Calibri"/>
              </a:rPr>
              <a:t>Quality bar highlights: dashboard &lt;2s load · anti-cheating server-side jump rejection · raw watch data never feeds a performance review · WCAG 2.1 AA · zero paid infrastructure.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05</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Solution Architecture</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A modular monolith — one app, five self-contained modules</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sp>
        <p:nvSpPr>
          <p:cNvPr id="8" name="Rounded Rectangle 7"/>
          <p:cNvSpPr/>
          <p:nvPr/>
        </p:nvSpPr>
        <p:spPr>
          <a:xfrm>
            <a:off x="731520" y="1691640"/>
            <a:ext cx="3200400" cy="960120"/>
          </a:xfrm>
          <a:prstGeom prst="roundRect">
            <a:avLst>
              <a:gd name="adj" fmla="val 8000"/>
            </a:avLst>
          </a:prstGeom>
          <a:solidFill>
            <a:srgbClr val="E3F0EA"/>
          </a:solidFill>
          <a:ln w="15875">
            <a:solidFill>
              <a:srgbClr val="4FB09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123D30"/>
                </a:solidFill>
              </a:rPr>
              <a:t>React SPA</a:t>
            </a:r>
          </a:p>
          <a:p>
            <a:pPr algn="ctr"/>
            <a:r>
              <a:rPr sz="1100" i="1">
                <a:solidFill>
                  <a:srgbClr val="5B665E"/>
                </a:solidFill>
              </a:rPr>
              <a:t>what people click</a:t>
            </a:r>
          </a:p>
        </p:txBody>
      </p:sp>
      <p:sp>
        <p:nvSpPr>
          <p:cNvPr id="9" name="Right Arrow 8"/>
          <p:cNvSpPr/>
          <p:nvPr/>
        </p:nvSpPr>
        <p:spPr>
          <a:xfrm>
            <a:off x="3977640" y="2011680"/>
            <a:ext cx="411480" cy="320040"/>
          </a:xfrm>
          <a:prstGeom prst="rightArrow">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34840" y="1691640"/>
            <a:ext cx="3200400" cy="960120"/>
          </a:xfrm>
          <a:prstGeom prst="roundRect">
            <a:avLst>
              <a:gd name="adj" fmla="val 8000"/>
            </a:avLst>
          </a:prstGeom>
          <a:solidFill>
            <a:srgbClr val="E3F0EA"/>
          </a:solidFill>
          <a:ln w="15875">
            <a:solidFill>
              <a:srgbClr val="4FB09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123D30"/>
                </a:solidFill>
              </a:rPr>
              <a:t>FastAPI backend</a:t>
            </a:r>
          </a:p>
          <a:p>
            <a:pPr algn="ctr"/>
            <a:r>
              <a:rPr sz="1100" i="1">
                <a:solidFill>
                  <a:srgbClr val="5B665E"/>
                </a:solidFill>
              </a:rPr>
              <a:t>all the logic</a:t>
            </a:r>
          </a:p>
        </p:txBody>
      </p:sp>
      <p:sp>
        <p:nvSpPr>
          <p:cNvPr id="11" name="Right Arrow 10"/>
          <p:cNvSpPr/>
          <p:nvPr/>
        </p:nvSpPr>
        <p:spPr>
          <a:xfrm>
            <a:off x="7680960" y="2011680"/>
            <a:ext cx="411480" cy="320040"/>
          </a:xfrm>
          <a:prstGeom prst="rightArrow">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60" y="1691640"/>
            <a:ext cx="3200400" cy="960120"/>
          </a:xfrm>
          <a:prstGeom prst="roundRect">
            <a:avLst>
              <a:gd name="adj" fmla="val 8000"/>
            </a:avLst>
          </a:prstGeom>
          <a:solidFill>
            <a:srgbClr val="E3F0EA"/>
          </a:solidFill>
          <a:ln w="15875">
            <a:solidFill>
              <a:srgbClr val="4FB09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123D30"/>
                </a:solidFill>
              </a:rPr>
              <a:t>PostgreSQL + pgvector</a:t>
            </a:r>
          </a:p>
          <a:p>
            <a:pPr algn="ctr"/>
            <a:r>
              <a:rPr sz="1100" i="1">
                <a:solidFill>
                  <a:srgbClr val="5B665E"/>
                </a:solidFill>
              </a:rPr>
              <a:t>data + AI matching</a:t>
            </a:r>
          </a:p>
        </p:txBody>
      </p:sp>
      <p:sp>
        <p:nvSpPr>
          <p:cNvPr id="13" name="TextBox 12"/>
          <p:cNvSpPr txBox="1"/>
          <p:nvPr/>
        </p:nvSpPr>
        <p:spPr>
          <a:xfrm>
            <a:off x="731520" y="2761488"/>
            <a:ext cx="10515600" cy="274320"/>
          </a:xfrm>
          <a:prstGeom prst="rect">
            <a:avLst/>
          </a:prstGeom>
          <a:noFill/>
        </p:spPr>
        <p:txBody>
          <a:bodyPr wrap="square" anchor="t" lIns="0" rIns="0" tIns="0" bIns="0">
            <a:spAutoFit/>
          </a:bodyPr>
          <a:lstStyle/>
          <a:p>
            <a:pPr algn="l">
              <a:lnSpc>
                <a:spcPct val="100000"/>
              </a:lnSpc>
            </a:pPr>
            <a:r>
              <a:rPr sz="1050" b="0" i="1">
                <a:solidFill>
                  <a:srgbClr val="5B665E"/>
                </a:solidFill>
                <a:latin typeface="Calibri"/>
              </a:rPr>
              <a:t>A scheduled job separately pulls new video content from YouTube (≤100 calls/day) into the same database.</a:t>
            </a:r>
          </a:p>
        </p:txBody>
      </p:sp>
      <p:sp>
        <p:nvSpPr>
          <p:cNvPr id="14" name="Rounded Rectangle 13"/>
          <p:cNvSpPr/>
          <p:nvPr/>
        </p:nvSpPr>
        <p:spPr>
          <a:xfrm>
            <a:off x="502920" y="3246120"/>
            <a:ext cx="2157984" cy="1417320"/>
          </a:xfrm>
          <a:prstGeom prst="roundRect">
            <a:avLst>
              <a:gd name="adj" fmla="val 6000"/>
            </a:avLst>
          </a:prstGeom>
          <a:solidFill>
            <a:srgbClr val="FFFFFF"/>
          </a:solidFill>
          <a:ln w="9525">
            <a:solidFill>
              <a:srgbClr val="E4DE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64992"/>
            <a:ext cx="1883664" cy="274320"/>
          </a:xfrm>
          <a:prstGeom prst="rect">
            <a:avLst/>
          </a:prstGeom>
          <a:noFill/>
        </p:spPr>
        <p:txBody>
          <a:bodyPr wrap="square" anchor="t" lIns="0" rIns="0" tIns="0" bIns="0">
            <a:spAutoFit/>
          </a:bodyPr>
          <a:lstStyle/>
          <a:p>
            <a:pPr algn="l">
              <a:lnSpc>
                <a:spcPct val="100000"/>
              </a:lnSpc>
            </a:pPr>
            <a:r>
              <a:rPr sz="1350" b="1" i="0">
                <a:solidFill>
                  <a:srgbClr val="123D30"/>
                </a:solidFill>
                <a:latin typeface="Consolas"/>
              </a:rPr>
              <a:t>auth/</a:t>
            </a:r>
          </a:p>
        </p:txBody>
      </p:sp>
      <p:sp>
        <p:nvSpPr>
          <p:cNvPr id="16" name="TextBox 15"/>
          <p:cNvSpPr txBox="1"/>
          <p:nvPr/>
        </p:nvSpPr>
        <p:spPr>
          <a:xfrm>
            <a:off x="640080" y="3657600"/>
            <a:ext cx="1883664" cy="960120"/>
          </a:xfrm>
          <a:prstGeom prst="rect">
            <a:avLst/>
          </a:prstGeom>
          <a:noFill/>
        </p:spPr>
        <p:txBody>
          <a:bodyPr wrap="square" anchor="t" lIns="0" rIns="0" tIns="0" bIns="0">
            <a:spAutoFit/>
          </a:bodyPr>
          <a:lstStyle/>
          <a:p>
            <a:pPr algn="l">
              <a:lnSpc>
                <a:spcPct val="110000"/>
              </a:lnSpc>
            </a:pPr>
            <a:r>
              <a:rPr sz="1000" b="0" i="0">
                <a:solidFill>
                  <a:srgbClr val="222A24"/>
                </a:solidFill>
                <a:latin typeface="Calibri"/>
              </a:rPr>
              <a:t>Login, sessions, and making sure people only see what they're allowed to.</a:t>
            </a:r>
          </a:p>
        </p:txBody>
      </p:sp>
      <p:sp>
        <p:nvSpPr>
          <p:cNvPr id="17" name="Rounded Rectangle 16"/>
          <p:cNvSpPr/>
          <p:nvPr/>
        </p:nvSpPr>
        <p:spPr>
          <a:xfrm>
            <a:off x="2743200" y="3246120"/>
            <a:ext cx="2157984" cy="1417320"/>
          </a:xfrm>
          <a:prstGeom prst="roundRect">
            <a:avLst>
              <a:gd name="adj" fmla="val 6000"/>
            </a:avLst>
          </a:prstGeom>
          <a:solidFill>
            <a:srgbClr val="FFFFFF"/>
          </a:solidFill>
          <a:ln w="9525">
            <a:solidFill>
              <a:srgbClr val="E4DE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3364992"/>
            <a:ext cx="1883664" cy="274320"/>
          </a:xfrm>
          <a:prstGeom prst="rect">
            <a:avLst/>
          </a:prstGeom>
          <a:noFill/>
        </p:spPr>
        <p:txBody>
          <a:bodyPr wrap="square" anchor="t" lIns="0" rIns="0" tIns="0" bIns="0">
            <a:spAutoFit/>
          </a:bodyPr>
          <a:lstStyle/>
          <a:p>
            <a:pPr algn="l">
              <a:lnSpc>
                <a:spcPct val="100000"/>
              </a:lnSpc>
            </a:pPr>
            <a:r>
              <a:rPr sz="1350" b="1" i="0">
                <a:solidFill>
                  <a:srgbClr val="123D30"/>
                </a:solidFill>
                <a:latin typeface="Consolas"/>
              </a:rPr>
              <a:t>assignments/</a:t>
            </a:r>
          </a:p>
        </p:txBody>
      </p:sp>
      <p:sp>
        <p:nvSpPr>
          <p:cNvPr id="19" name="TextBox 18"/>
          <p:cNvSpPr txBox="1"/>
          <p:nvPr/>
        </p:nvSpPr>
        <p:spPr>
          <a:xfrm>
            <a:off x="2880360" y="3657600"/>
            <a:ext cx="1883664" cy="960120"/>
          </a:xfrm>
          <a:prstGeom prst="rect">
            <a:avLst/>
          </a:prstGeom>
          <a:noFill/>
        </p:spPr>
        <p:txBody>
          <a:bodyPr wrap="square" anchor="t" lIns="0" rIns="0" tIns="0" bIns="0">
            <a:spAutoFit/>
          </a:bodyPr>
          <a:lstStyle/>
          <a:p>
            <a:pPr algn="l">
              <a:lnSpc>
                <a:spcPct val="110000"/>
              </a:lnSpc>
            </a:pPr>
            <a:r>
              <a:rPr sz="1000" b="0" i="0">
                <a:solidFill>
                  <a:srgbClr val="222A24"/>
                </a:solidFill>
                <a:latin typeface="Calibri"/>
              </a:rPr>
              <a:t>Stores “HR assigned Skill X to Employee Y” records.</a:t>
            </a:r>
          </a:p>
        </p:txBody>
      </p:sp>
      <p:sp>
        <p:nvSpPr>
          <p:cNvPr id="20" name="Rounded Rectangle 19"/>
          <p:cNvSpPr/>
          <p:nvPr/>
        </p:nvSpPr>
        <p:spPr>
          <a:xfrm>
            <a:off x="4983480" y="3246120"/>
            <a:ext cx="2157984" cy="1417320"/>
          </a:xfrm>
          <a:prstGeom prst="roundRect">
            <a:avLst>
              <a:gd name="adj" fmla="val 6000"/>
            </a:avLst>
          </a:prstGeom>
          <a:solidFill>
            <a:srgbClr val="FFFFFF"/>
          </a:solidFill>
          <a:ln w="9525">
            <a:solidFill>
              <a:srgbClr val="E4DE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3364992"/>
            <a:ext cx="1883664" cy="274320"/>
          </a:xfrm>
          <a:prstGeom prst="rect">
            <a:avLst/>
          </a:prstGeom>
          <a:noFill/>
        </p:spPr>
        <p:txBody>
          <a:bodyPr wrap="square" anchor="t" lIns="0" rIns="0" tIns="0" bIns="0">
            <a:spAutoFit/>
          </a:bodyPr>
          <a:lstStyle/>
          <a:p>
            <a:pPr algn="l">
              <a:lnSpc>
                <a:spcPct val="100000"/>
              </a:lnSpc>
            </a:pPr>
            <a:r>
              <a:rPr sz="1350" b="1" i="0">
                <a:solidFill>
                  <a:srgbClr val="123D30"/>
                </a:solidFill>
                <a:latin typeface="Consolas"/>
              </a:rPr>
              <a:t>content/</a:t>
            </a:r>
          </a:p>
        </p:txBody>
      </p:sp>
      <p:sp>
        <p:nvSpPr>
          <p:cNvPr id="22" name="TextBox 21"/>
          <p:cNvSpPr txBox="1"/>
          <p:nvPr/>
        </p:nvSpPr>
        <p:spPr>
          <a:xfrm>
            <a:off x="5120640" y="3657600"/>
            <a:ext cx="1883664" cy="960120"/>
          </a:xfrm>
          <a:prstGeom prst="rect">
            <a:avLst/>
          </a:prstGeom>
          <a:noFill/>
        </p:spPr>
        <p:txBody>
          <a:bodyPr wrap="square" anchor="t" lIns="0" rIns="0" tIns="0" bIns="0">
            <a:spAutoFit/>
          </a:bodyPr>
          <a:lstStyle/>
          <a:p>
            <a:pPr algn="l">
              <a:lnSpc>
                <a:spcPct val="110000"/>
              </a:lnSpc>
            </a:pPr>
            <a:r>
              <a:rPr sz="1000" b="0" i="0">
                <a:solidFill>
                  <a:srgbClr val="222A24"/>
                </a:solidFill>
                <a:latin typeface="Calibri"/>
              </a:rPr>
              <a:t>The content library and the AI matching that connects it to skills.</a:t>
            </a:r>
          </a:p>
        </p:txBody>
      </p:sp>
      <p:sp>
        <p:nvSpPr>
          <p:cNvPr id="23" name="Rounded Rectangle 22"/>
          <p:cNvSpPr/>
          <p:nvPr/>
        </p:nvSpPr>
        <p:spPr>
          <a:xfrm>
            <a:off x="7223760" y="3246120"/>
            <a:ext cx="2157984" cy="1417320"/>
          </a:xfrm>
          <a:prstGeom prst="roundRect">
            <a:avLst>
              <a:gd name="adj" fmla="val 6000"/>
            </a:avLst>
          </a:prstGeom>
          <a:solidFill>
            <a:srgbClr val="123D30"/>
          </a:solidFill>
          <a:ln w="19050">
            <a:solidFill>
              <a:srgbClr val="C99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0920" y="3364992"/>
            <a:ext cx="1883664" cy="274320"/>
          </a:xfrm>
          <a:prstGeom prst="rect">
            <a:avLst/>
          </a:prstGeom>
          <a:noFill/>
        </p:spPr>
        <p:txBody>
          <a:bodyPr wrap="square" anchor="t" lIns="0" rIns="0" tIns="0" bIns="0">
            <a:spAutoFit/>
          </a:bodyPr>
          <a:lstStyle/>
          <a:p>
            <a:pPr algn="l">
              <a:lnSpc>
                <a:spcPct val="100000"/>
              </a:lnSpc>
            </a:pPr>
            <a:r>
              <a:rPr sz="1350" b="1" i="0">
                <a:solidFill>
                  <a:srgbClr val="FFFFFF"/>
                </a:solidFill>
                <a:latin typeface="Consolas"/>
              </a:rPr>
              <a:t>progress/</a:t>
            </a:r>
          </a:p>
        </p:txBody>
      </p:sp>
      <p:sp>
        <p:nvSpPr>
          <p:cNvPr id="25" name="TextBox 24"/>
          <p:cNvSpPr txBox="1"/>
          <p:nvPr/>
        </p:nvSpPr>
        <p:spPr>
          <a:xfrm>
            <a:off x="7360920" y="3657600"/>
            <a:ext cx="1883664" cy="960120"/>
          </a:xfrm>
          <a:prstGeom prst="rect">
            <a:avLst/>
          </a:prstGeom>
          <a:noFill/>
        </p:spPr>
        <p:txBody>
          <a:bodyPr wrap="square" anchor="t" lIns="0" rIns="0" tIns="0" bIns="0">
            <a:spAutoFit/>
          </a:bodyPr>
          <a:lstStyle/>
          <a:p>
            <a:pPr algn="l">
              <a:lnSpc>
                <a:spcPct val="110000"/>
              </a:lnSpc>
            </a:pPr>
            <a:r>
              <a:rPr sz="1000" b="0" i="0">
                <a:solidFill>
                  <a:srgbClr val="DDE6DF"/>
                </a:solidFill>
                <a:latin typeface="Calibri"/>
              </a:rPr>
              <a:t>The single source of truth for “how far along, and how much do we trust it.”</a:t>
            </a:r>
          </a:p>
        </p:txBody>
      </p:sp>
      <p:sp>
        <p:nvSpPr>
          <p:cNvPr id="26" name="Rounded Rectangle 25"/>
          <p:cNvSpPr/>
          <p:nvPr/>
        </p:nvSpPr>
        <p:spPr>
          <a:xfrm>
            <a:off x="9464040" y="3246120"/>
            <a:ext cx="2157984" cy="1417320"/>
          </a:xfrm>
          <a:prstGeom prst="roundRect">
            <a:avLst>
              <a:gd name="adj" fmla="val 6000"/>
            </a:avLst>
          </a:prstGeom>
          <a:solidFill>
            <a:srgbClr val="FFFFFF"/>
          </a:solidFill>
          <a:ln w="9525">
            <a:solidFill>
              <a:srgbClr val="E4DE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0" y="3364992"/>
            <a:ext cx="1883664" cy="274320"/>
          </a:xfrm>
          <a:prstGeom prst="rect">
            <a:avLst/>
          </a:prstGeom>
          <a:noFill/>
        </p:spPr>
        <p:txBody>
          <a:bodyPr wrap="square" anchor="t" lIns="0" rIns="0" tIns="0" bIns="0">
            <a:spAutoFit/>
          </a:bodyPr>
          <a:lstStyle/>
          <a:p>
            <a:pPr algn="l">
              <a:lnSpc>
                <a:spcPct val="100000"/>
              </a:lnSpc>
            </a:pPr>
            <a:r>
              <a:rPr sz="1350" b="1" i="0">
                <a:solidFill>
                  <a:srgbClr val="123D30"/>
                </a:solidFill>
                <a:latin typeface="Consolas"/>
              </a:rPr>
              <a:t>dashboard/</a:t>
            </a:r>
          </a:p>
        </p:txBody>
      </p:sp>
      <p:sp>
        <p:nvSpPr>
          <p:cNvPr id="28" name="TextBox 27"/>
          <p:cNvSpPr txBox="1"/>
          <p:nvPr/>
        </p:nvSpPr>
        <p:spPr>
          <a:xfrm>
            <a:off x="9601200" y="3657600"/>
            <a:ext cx="1883664" cy="960120"/>
          </a:xfrm>
          <a:prstGeom prst="rect">
            <a:avLst/>
          </a:prstGeom>
          <a:noFill/>
        </p:spPr>
        <p:txBody>
          <a:bodyPr wrap="square" anchor="t" lIns="0" rIns="0" tIns="0" bIns="0">
            <a:spAutoFit/>
          </a:bodyPr>
          <a:lstStyle/>
          <a:p>
            <a:pPr algn="l">
              <a:lnSpc>
                <a:spcPct val="110000"/>
              </a:lnSpc>
            </a:pPr>
            <a:r>
              <a:rPr sz="1000" b="0" i="0">
                <a:solidFill>
                  <a:srgbClr val="222A24"/>
                </a:solidFill>
                <a:latin typeface="Calibri"/>
              </a:rPr>
              <a:t>Owns no data — just reads assignments + progress and composes HR's view.</a:t>
            </a:r>
          </a:p>
        </p:txBody>
      </p:sp>
      <p:sp>
        <p:nvSpPr>
          <p:cNvPr id="29" name="Rectangle 28"/>
          <p:cNvSpPr/>
          <p:nvPr/>
        </p:nvSpPr>
        <p:spPr>
          <a:xfrm>
            <a:off x="502920" y="4892040"/>
            <a:ext cx="11155680" cy="960120"/>
          </a:xfrm>
          <a:prstGeom prst="rect">
            <a:avLst/>
          </a:prstGeom>
          <a:solidFill>
            <a:srgbClr val="E9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983480"/>
            <a:ext cx="10698480" cy="274320"/>
          </a:xfrm>
          <a:prstGeom prst="rect">
            <a:avLst/>
          </a:prstGeom>
          <a:noFill/>
        </p:spPr>
        <p:txBody>
          <a:bodyPr wrap="square" anchor="t" lIns="0" rIns="0" tIns="0" bIns="0">
            <a:spAutoFit/>
          </a:bodyPr>
          <a:lstStyle/>
          <a:p>
            <a:pPr algn="l">
              <a:lnSpc>
                <a:spcPct val="100000"/>
              </a:lnSpc>
            </a:pPr>
            <a:r>
              <a:rPr sz="1300" b="1" i="0">
                <a:solidFill>
                  <a:srgbClr val="123D30"/>
                </a:solidFill>
                <a:latin typeface="Calibri"/>
              </a:rPr>
              <a:t>The most important design decision</a:t>
            </a:r>
          </a:p>
        </p:txBody>
      </p:sp>
      <p:sp>
        <p:nvSpPr>
          <p:cNvPr id="31" name="TextBox 30"/>
          <p:cNvSpPr txBox="1"/>
          <p:nvPr/>
        </p:nvSpPr>
        <p:spPr>
          <a:xfrm>
            <a:off x="731520" y="5257800"/>
            <a:ext cx="10698480" cy="548640"/>
          </a:xfrm>
          <a:prstGeom prst="rect">
            <a:avLst/>
          </a:prstGeom>
          <a:noFill/>
        </p:spPr>
        <p:txBody>
          <a:bodyPr wrap="square" anchor="t" lIns="0" rIns="0" tIns="0" bIns="0">
            <a:spAutoFit/>
          </a:bodyPr>
          <a:lstStyle/>
          <a:p>
            <a:pPr algn="l">
              <a:lnSpc>
                <a:spcPct val="110000"/>
              </a:lnSpc>
            </a:pPr>
            <a:r>
              <a:rPr sz="1150" b="0" i="0">
                <a:solidFill>
                  <a:srgbClr val="222A24"/>
                </a:solidFill>
                <a:latin typeface="Calibri"/>
              </a:rPr>
              <a:t>Only progress/ decides a row's Status and trust level. If the dashboard, assignment screen, or a future export each computed “is this person ready?” independently, they could disagree — the exact trust problem this product exists to solve.</a:t>
            </a:r>
          </a:p>
        </p:txBody>
      </p:sp>
      <p:sp>
        <p:nvSpPr>
          <p:cNvPr id="32" name="TextBox 31"/>
          <p:cNvSpPr txBox="1"/>
          <p:nvPr/>
        </p:nvSpPr>
        <p:spPr>
          <a:xfrm>
            <a:off x="502920" y="5989320"/>
            <a:ext cx="11155680" cy="502920"/>
          </a:xfrm>
          <a:prstGeom prst="rect">
            <a:avLst/>
          </a:prstGeom>
          <a:noFill/>
        </p:spPr>
        <p:txBody>
          <a:bodyPr wrap="square" anchor="t" lIns="0" rIns="0" tIns="0" bIns="0">
            <a:spAutoFit/>
          </a:bodyPr>
          <a:lstStyle/>
          <a:p>
            <a:pPr algn="l">
              <a:lnSpc>
                <a:spcPct val="100000"/>
              </a:lnSpc>
            </a:pPr>
            <a:r>
              <a:rPr sz="1050" b="0" i="1">
                <a:solidFill>
                  <a:srgbClr val="5B665E"/>
                </a:solidFill>
                <a:latin typeface="Calibri"/>
              </a:rPr>
              <a:t>Other key calls: order by event time not position (respects intentional rewinds) · HR Override stored as its own record, never overwrites real data · content fetched in scheduled batches, not searched live · matching via offline embeddings, not keywords.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06</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Tech Stack, at a Glance</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Everything runs locally via Docker for this pilot — zero paid infrastructure</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graphicFrame>
        <p:nvGraphicFramePr>
          <p:cNvPr id="8" name="Table 7"/>
          <p:cNvGraphicFramePr>
            <a:graphicFrameLocks noGrp="1"/>
          </p:cNvGraphicFramePr>
          <p:nvPr/>
        </p:nvGraphicFramePr>
        <p:xfrm>
          <a:off x="502920" y="1691640"/>
          <a:ext cx="11201400" cy="4206240"/>
        </p:xfrm>
        <a:graphic>
          <a:graphicData uri="http://schemas.openxmlformats.org/drawingml/2006/table">
            <a:tbl>
              <a:tblPr firstRow="1" bandRow="1">
                <a:tableStyleId>{5C22544A-7EE6-4342-B048-85BDC9FD1C3A}</a:tableStyleId>
              </a:tblPr>
              <a:tblGrid>
                <a:gridCol w="1828800"/>
                <a:gridCol w="4343400"/>
                <a:gridCol w="5029200"/>
              </a:tblGrid>
              <a:tr h="600891">
                <a:tc>
                  <a:txBody>
                    <a:bodyPr/>
                    <a:lstStyle/>
                    <a:p>
                      <a:pPr algn="l"/>
                      <a:r>
                        <a:rPr b="1" sz="1400">
                          <a:solidFill>
                            <a:srgbClr val="FFFFFF"/>
                          </a:solidFill>
                          <a:latin typeface="Calibri"/>
                        </a:rPr>
                        <a:t>Layer</a:t>
                      </a:r>
                    </a:p>
                  </a:txBody>
                  <a:tcPr anchor="ctr">
                    <a:solidFill>
                      <a:srgbClr val="123D30"/>
                    </a:solidFill>
                  </a:tcPr>
                </a:tc>
                <a:tc>
                  <a:txBody>
                    <a:bodyPr/>
                    <a:lstStyle/>
                    <a:p>
                      <a:pPr algn="l"/>
                      <a:r>
                        <a:rPr b="1" sz="1400">
                          <a:solidFill>
                            <a:srgbClr val="FFFFFF"/>
                          </a:solidFill>
                          <a:latin typeface="Calibri"/>
                        </a:rPr>
                        <a:t>Tool</a:t>
                      </a:r>
                    </a:p>
                  </a:txBody>
                  <a:tcPr anchor="ctr">
                    <a:solidFill>
                      <a:srgbClr val="123D30"/>
                    </a:solidFill>
                  </a:tcPr>
                </a:tc>
                <a:tc>
                  <a:txBody>
                    <a:bodyPr/>
                    <a:lstStyle/>
                    <a:p>
                      <a:pPr algn="l"/>
                      <a:r>
                        <a:rPr b="1" sz="1400">
                          <a:solidFill>
                            <a:srgbClr val="FFFFFF"/>
                          </a:solidFill>
                          <a:latin typeface="Calibri"/>
                        </a:rPr>
                        <a:t>Why</a:t>
                      </a:r>
                    </a:p>
                  </a:txBody>
                  <a:tcPr anchor="ctr">
                    <a:solidFill>
                      <a:srgbClr val="123D30"/>
                    </a:solidFill>
                  </a:tcPr>
                </a:tc>
              </a:tr>
              <a:tr h="600891">
                <a:tc>
                  <a:txBody>
                    <a:bodyPr/>
                    <a:lstStyle/>
                    <a:p>
                      <a:r>
                        <a:rPr sz="1300">
                          <a:solidFill>
                            <a:srgbClr val="222A24"/>
                          </a:solidFill>
                          <a:latin typeface="Calibri"/>
                        </a:rPr>
                        <a:t>Frontend</a:t>
                      </a:r>
                    </a:p>
                  </a:txBody>
                  <a:tcPr anchor="ctr" marT="50800" marB="50800">
                    <a:solidFill>
                      <a:srgbClr val="FFFFFF"/>
                    </a:solidFill>
                  </a:tcPr>
                </a:tc>
                <a:tc>
                  <a:txBody>
                    <a:bodyPr/>
                    <a:lstStyle/>
                    <a:p>
                      <a:r>
                        <a:rPr sz="1300">
                          <a:solidFill>
                            <a:srgbClr val="222A24"/>
                          </a:solidFill>
                          <a:latin typeface="Calibri"/>
                        </a:rPr>
                        <a:t>React + TypeScript + Vite, shadcn/ui + Tailwind</a:t>
                      </a:r>
                    </a:p>
                  </a:txBody>
                  <a:tcPr anchor="ctr" marT="50800" marB="50800">
                    <a:solidFill>
                      <a:srgbClr val="FFFFFF"/>
                    </a:solidFill>
                  </a:tcPr>
                </a:tc>
                <a:tc>
                  <a:txBody>
                    <a:bodyPr/>
                    <a:lstStyle/>
                    <a:p>
                      <a:r>
                        <a:rPr sz="1300">
                          <a:solidFill>
                            <a:srgbClr val="222A24"/>
                          </a:solidFill>
                          <a:latin typeface="Calibri"/>
                        </a:rPr>
                        <a:t>Modern, fast, well-supported</a:t>
                      </a:r>
                    </a:p>
                  </a:txBody>
                  <a:tcPr anchor="ctr" marT="50800" marB="50800">
                    <a:solidFill>
                      <a:srgbClr val="FFFFFF"/>
                    </a:solidFill>
                  </a:tcPr>
                </a:tc>
              </a:tr>
              <a:tr h="600891">
                <a:tc>
                  <a:txBody>
                    <a:bodyPr/>
                    <a:lstStyle/>
                    <a:p>
                      <a:r>
                        <a:rPr sz="1300">
                          <a:solidFill>
                            <a:srgbClr val="222A24"/>
                          </a:solidFill>
                          <a:latin typeface="Calibri"/>
                        </a:rPr>
                        <a:t>Backend</a:t>
                      </a:r>
                    </a:p>
                  </a:txBody>
                  <a:tcPr anchor="ctr" marT="50800" marB="50800">
                    <a:solidFill>
                      <a:srgbClr val="F1ECDD"/>
                    </a:solidFill>
                  </a:tcPr>
                </a:tc>
                <a:tc>
                  <a:txBody>
                    <a:bodyPr/>
                    <a:lstStyle/>
                    <a:p>
                      <a:r>
                        <a:rPr sz="1300">
                          <a:solidFill>
                            <a:srgbClr val="222A24"/>
                          </a:solidFill>
                          <a:latin typeface="Calibri"/>
                        </a:rPr>
                        <a:t>Python 3.12+, FastAPI</a:t>
                      </a:r>
                    </a:p>
                  </a:txBody>
                  <a:tcPr anchor="ctr" marT="50800" marB="50800">
                    <a:solidFill>
                      <a:srgbClr val="F1ECDD"/>
                    </a:solidFill>
                  </a:tcPr>
                </a:tc>
                <a:tc>
                  <a:txBody>
                    <a:bodyPr/>
                    <a:lstStyle/>
                    <a:p>
                      <a:r>
                        <a:rPr sz="1300">
                          <a:solidFill>
                            <a:srgbClr val="222A24"/>
                          </a:solidFill>
                          <a:latin typeface="Calibri"/>
                        </a:rPr>
                        <a:t>Fast to build with, strong async support</a:t>
                      </a:r>
                    </a:p>
                  </a:txBody>
                  <a:tcPr anchor="ctr" marT="50800" marB="50800">
                    <a:solidFill>
                      <a:srgbClr val="F1ECDD"/>
                    </a:solidFill>
                  </a:tcPr>
                </a:tc>
              </a:tr>
              <a:tr h="600891">
                <a:tc>
                  <a:txBody>
                    <a:bodyPr/>
                    <a:lstStyle/>
                    <a:p>
                      <a:r>
                        <a:rPr sz="1300">
                          <a:solidFill>
                            <a:srgbClr val="222A24"/>
                          </a:solidFill>
                          <a:latin typeface="Calibri"/>
                        </a:rPr>
                        <a:t>Database</a:t>
                      </a:r>
                    </a:p>
                  </a:txBody>
                  <a:tcPr anchor="ctr" marT="50800" marB="50800">
                    <a:solidFill>
                      <a:srgbClr val="FFFFFF"/>
                    </a:solidFill>
                  </a:tcPr>
                </a:tc>
                <a:tc>
                  <a:txBody>
                    <a:bodyPr/>
                    <a:lstStyle/>
                    <a:p>
                      <a:r>
                        <a:rPr sz="1300">
                          <a:solidFill>
                            <a:srgbClr val="222A24"/>
                          </a:solidFill>
                          <a:latin typeface="Calibri"/>
                        </a:rPr>
                        <a:t>PostgreSQL + pgvector</a:t>
                      </a:r>
                    </a:p>
                  </a:txBody>
                  <a:tcPr anchor="ctr" marT="50800" marB="50800">
                    <a:solidFill>
                      <a:srgbClr val="FFFFFF"/>
                    </a:solidFill>
                  </a:tcPr>
                </a:tc>
                <a:tc>
                  <a:txBody>
                    <a:bodyPr/>
                    <a:lstStyle/>
                    <a:p>
                      <a:r>
                        <a:rPr sz="1300">
                          <a:solidFill>
                            <a:srgbClr val="222A24"/>
                          </a:solidFill>
                          <a:latin typeface="Calibri"/>
                        </a:rPr>
                        <a:t>Relational storage plus AI similarity search, one system</a:t>
                      </a:r>
                    </a:p>
                  </a:txBody>
                  <a:tcPr anchor="ctr" marT="50800" marB="50800">
                    <a:solidFill>
                      <a:srgbClr val="FFFFFF"/>
                    </a:solidFill>
                  </a:tcPr>
                </a:tc>
              </a:tr>
              <a:tr h="600891">
                <a:tc>
                  <a:txBody>
                    <a:bodyPr/>
                    <a:lstStyle/>
                    <a:p>
                      <a:r>
                        <a:rPr sz="1300">
                          <a:solidFill>
                            <a:srgbClr val="222A24"/>
                          </a:solidFill>
                          <a:latin typeface="Calibri"/>
                        </a:rPr>
                        <a:t>AI matching</a:t>
                      </a:r>
                    </a:p>
                  </a:txBody>
                  <a:tcPr anchor="ctr" marT="50800" marB="50800">
                    <a:solidFill>
                      <a:srgbClr val="F1ECDD"/>
                    </a:solidFill>
                  </a:tcPr>
                </a:tc>
                <a:tc>
                  <a:txBody>
                    <a:bodyPr/>
                    <a:lstStyle/>
                    <a:p>
                      <a:r>
                        <a:rPr sz="1300">
                          <a:solidFill>
                            <a:srgbClr val="222A24"/>
                          </a:solidFill>
                          <a:latin typeface="Calibri"/>
                        </a:rPr>
                        <a:t>Local sentence-transformers model</a:t>
                      </a:r>
                    </a:p>
                  </a:txBody>
                  <a:tcPr anchor="ctr" marT="50800" marB="50800">
                    <a:solidFill>
                      <a:srgbClr val="F1ECDD"/>
                    </a:solidFill>
                  </a:tcPr>
                </a:tc>
                <a:tc>
                  <a:txBody>
                    <a:bodyPr/>
                    <a:lstStyle/>
                    <a:p>
                      <a:r>
                        <a:rPr sz="1300">
                          <a:solidFill>
                            <a:srgbClr val="222A24"/>
                          </a:solidFill>
                          <a:latin typeface="Calibri"/>
                        </a:rPr>
                        <a:t>No API cost, works offline, fits zero budget</a:t>
                      </a:r>
                    </a:p>
                  </a:txBody>
                  <a:tcPr anchor="ctr" marT="50800" marB="50800">
                    <a:solidFill>
                      <a:srgbClr val="F1ECDD"/>
                    </a:solidFill>
                  </a:tcPr>
                </a:tc>
              </a:tr>
              <a:tr h="600891">
                <a:tc>
                  <a:txBody>
                    <a:bodyPr/>
                    <a:lstStyle/>
                    <a:p>
                      <a:r>
                        <a:rPr sz="1300">
                          <a:solidFill>
                            <a:srgbClr val="222A24"/>
                          </a:solidFill>
                          <a:latin typeface="Calibri"/>
                        </a:rPr>
                        <a:t>Video</a:t>
                      </a:r>
                    </a:p>
                  </a:txBody>
                  <a:tcPr anchor="ctr" marT="50800" marB="50800">
                    <a:solidFill>
                      <a:srgbClr val="FFFFFF"/>
                    </a:solidFill>
                  </a:tcPr>
                </a:tc>
                <a:tc>
                  <a:txBody>
                    <a:bodyPr/>
                    <a:lstStyle/>
                    <a:p>
                      <a:r>
                        <a:rPr sz="1300">
                          <a:solidFill>
                            <a:srgbClr val="222A24"/>
                          </a:solidFill>
                          <a:latin typeface="Calibri"/>
                        </a:rPr>
                        <a:t>YouTube IFrame Player, behind an adapter</a:t>
                      </a:r>
                    </a:p>
                  </a:txBody>
                  <a:tcPr anchor="ctr" marT="50800" marB="50800">
                    <a:solidFill>
                      <a:srgbClr val="FFFFFF"/>
                    </a:solidFill>
                  </a:tcPr>
                </a:tc>
                <a:tc>
                  <a:txBody>
                    <a:bodyPr/>
                    <a:lstStyle/>
                    <a:p>
                      <a:r>
                        <a:rPr sz="1300">
                          <a:solidFill>
                            <a:srgbClr val="222A24"/>
                          </a:solidFill>
                          <a:latin typeface="Calibri"/>
                        </a:rPr>
                        <a:t>Free, documented, not locked in long-term</a:t>
                      </a:r>
                    </a:p>
                  </a:txBody>
                  <a:tcPr anchor="ctr" marT="50800" marB="50800">
                    <a:solidFill>
                      <a:srgbClr val="FFFFFF"/>
                    </a:solidFill>
                  </a:tcPr>
                </a:tc>
              </a:tr>
              <a:tr h="600894">
                <a:tc>
                  <a:txBody>
                    <a:bodyPr/>
                    <a:lstStyle/>
                    <a:p>
                      <a:r>
                        <a:rPr sz="1300">
                          <a:solidFill>
                            <a:srgbClr val="222A24"/>
                          </a:solidFill>
                          <a:latin typeface="Calibri"/>
                        </a:rPr>
                        <a:t>Hosting</a:t>
                      </a:r>
                    </a:p>
                  </a:txBody>
                  <a:tcPr anchor="ctr" marT="50800" marB="50800">
                    <a:solidFill>
                      <a:srgbClr val="F1ECDD"/>
                    </a:solidFill>
                  </a:tcPr>
                </a:tc>
                <a:tc>
                  <a:txBody>
                    <a:bodyPr/>
                    <a:lstStyle/>
                    <a:p>
                      <a:r>
                        <a:rPr sz="1300">
                          <a:solidFill>
                            <a:srgbClr val="222A24"/>
                          </a:solidFill>
                          <a:latin typeface="Calibri"/>
                        </a:rPr>
                        <a:t>Docker Compose, local only (pilot)</a:t>
                      </a:r>
                    </a:p>
                  </a:txBody>
                  <a:tcPr anchor="ctr" marT="50800" marB="50800">
                    <a:solidFill>
                      <a:srgbClr val="F1ECDD"/>
                    </a:solidFill>
                  </a:tcPr>
                </a:tc>
                <a:tc>
                  <a:txBody>
                    <a:bodyPr/>
                    <a:lstStyle/>
                    <a:p>
                      <a:r>
                        <a:rPr sz="1300">
                          <a:solidFill>
                            <a:srgbClr val="222A24"/>
                          </a:solidFill>
                          <a:latin typeface="Calibri"/>
                        </a:rPr>
                        <a:t>Keeps the pilot cheap and simple</a:t>
                      </a:r>
                    </a:p>
                  </a:txBody>
                  <a:tcPr anchor="ctr" marT="50800" marB="50800">
                    <a:solidFill>
                      <a:srgbClr val="F1ECDD"/>
                    </a:solidFill>
                  </a:tcPr>
                </a:tc>
              </a:tr>
            </a:tbl>
          </a:graphicData>
        </a:graphic>
      </p:graphicFrame>
      <p:sp>
        <p:nvSpPr>
          <p:cNvPr id="9" name="TextBox 8"/>
          <p:cNvSpPr txBox="1"/>
          <p:nvPr/>
        </p:nvSpPr>
        <p:spPr>
          <a:xfrm>
            <a:off x="502920" y="6126480"/>
            <a:ext cx="11155680" cy="457200"/>
          </a:xfrm>
          <a:prstGeom prst="rect">
            <a:avLst/>
          </a:prstGeom>
          <a:noFill/>
        </p:spPr>
        <p:txBody>
          <a:bodyPr wrap="square" anchor="t" lIns="0" rIns="0" tIns="0" bIns="0">
            <a:spAutoFit/>
          </a:bodyPr>
          <a:lstStyle/>
          <a:p>
            <a:pPr algn="l">
              <a:lnSpc>
                <a:spcPct val="100000"/>
              </a:lnSpc>
            </a:pPr>
            <a:r>
              <a:rPr sz="1050" b="0" i="1">
                <a:solidFill>
                  <a:srgbClr val="5B665E"/>
                </a:solidFill>
                <a:latin typeface="Calibri"/>
              </a:rPr>
              <a:t>Open questions carried forward: production account provisioning (SSO/HRIS), watch-history retention period, and whether HR reliably reads the trust labels — untested pre-launch.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07</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BMAD &amp; WDS Skills Used — What Each One Does (1/2)</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22 skill invocations were used to plan and build TalentPilot-AI end to end</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graphicFrame>
        <p:nvGraphicFramePr>
          <p:cNvPr id="8" name="Table 7"/>
          <p:cNvGraphicFramePr>
            <a:graphicFrameLocks noGrp="1"/>
          </p:cNvGraphicFramePr>
          <p:nvPr/>
        </p:nvGraphicFramePr>
        <p:xfrm>
          <a:off x="502920" y="1554480"/>
          <a:ext cx="11201400" cy="4892040"/>
        </p:xfrm>
        <a:graphic>
          <a:graphicData uri="http://schemas.openxmlformats.org/drawingml/2006/table">
            <a:tbl>
              <a:tblPr firstRow="1" bandRow="1">
                <a:tableStyleId>{5C22544A-7EE6-4342-B048-85BDC9FD1C3A}</a:tableStyleId>
              </a:tblPr>
              <a:tblGrid>
                <a:gridCol w="457200"/>
                <a:gridCol w="3200400"/>
                <a:gridCol w="7543800"/>
              </a:tblGrid>
              <a:tr h="407670">
                <a:tc>
                  <a:txBody>
                    <a:bodyPr/>
                    <a:lstStyle/>
                    <a:p>
                      <a:pPr algn="l"/>
                      <a:r>
                        <a:rPr b="1" sz="1300">
                          <a:solidFill>
                            <a:srgbClr val="FFFFFF"/>
                          </a:solidFill>
                          <a:latin typeface="Calibri"/>
                        </a:rPr>
                        <a:t>#</a:t>
                      </a:r>
                    </a:p>
                  </a:txBody>
                  <a:tcPr anchor="ctr">
                    <a:solidFill>
                      <a:srgbClr val="123D30"/>
                    </a:solidFill>
                  </a:tcPr>
                </a:tc>
                <a:tc>
                  <a:txBody>
                    <a:bodyPr/>
                    <a:lstStyle/>
                    <a:p>
                      <a:pPr algn="l"/>
                      <a:r>
                        <a:rPr b="1" sz="1300">
                          <a:solidFill>
                            <a:srgbClr val="FFFFFF"/>
                          </a:solidFill>
                          <a:latin typeface="Calibri"/>
                        </a:rPr>
                        <a:t>Skill</a:t>
                      </a:r>
                    </a:p>
                  </a:txBody>
                  <a:tcPr anchor="ctr">
                    <a:solidFill>
                      <a:srgbClr val="123D30"/>
                    </a:solidFill>
                  </a:tcPr>
                </a:tc>
                <a:tc>
                  <a:txBody>
                    <a:bodyPr/>
                    <a:lstStyle/>
                    <a:p>
                      <a:pPr algn="l"/>
                      <a:r>
                        <a:rPr b="1" sz="1300">
                          <a:solidFill>
                            <a:srgbClr val="FFFFFF"/>
                          </a:solidFill>
                          <a:latin typeface="Calibri"/>
                        </a:rPr>
                        <a:t>What it does, in one line</a:t>
                      </a:r>
                    </a:p>
                  </a:txBody>
                  <a:tcPr anchor="ctr">
                    <a:solidFill>
                      <a:srgbClr val="123D30"/>
                    </a:solidFill>
                  </a:tcPr>
                </a:tc>
              </a:tr>
              <a:tr h="407670">
                <a:tc>
                  <a:txBody>
                    <a:bodyPr/>
                    <a:lstStyle/>
                    <a:p>
                      <a:r>
                        <a:rPr sz="1150">
                          <a:solidFill>
                            <a:srgbClr val="222A24"/>
                          </a:solidFill>
                          <a:latin typeface="Calibri"/>
                        </a:rPr>
                        <a:t>1</a:t>
                      </a:r>
                    </a:p>
                  </a:txBody>
                  <a:tcPr anchor="ctr" marT="50800" marB="50800">
                    <a:solidFill>
                      <a:srgbClr val="FFFFFF"/>
                    </a:solidFill>
                  </a:tcPr>
                </a:tc>
                <a:tc>
                  <a:txBody>
                    <a:bodyPr/>
                    <a:lstStyle/>
                    <a:p>
                      <a:r>
                        <a:rPr sz="1150">
                          <a:solidFill>
                            <a:srgbClr val="222A24"/>
                          </a:solidFill>
                          <a:latin typeface="Calibri"/>
                        </a:rPr>
                        <a:t>/bmad-cis-agent-brainstorming-coach</a:t>
                      </a:r>
                    </a:p>
                  </a:txBody>
                  <a:tcPr anchor="ctr" marT="50800" marB="50800">
                    <a:solidFill>
                      <a:srgbClr val="FFFFFF"/>
                    </a:solidFill>
                  </a:tcPr>
                </a:tc>
                <a:tc>
                  <a:txBody>
                    <a:bodyPr/>
                    <a:lstStyle/>
                    <a:p>
                      <a:r>
                        <a:rPr sz="1150">
                          <a:solidFill>
                            <a:srgbClr val="222A24"/>
                          </a:solidFill>
                          <a:latin typeface="Calibri"/>
                        </a:rPr>
                        <a:t>Carson: elite facilitator who runs structured, technique-driven ideation sessions.</a:t>
                      </a:r>
                    </a:p>
                  </a:txBody>
                  <a:tcPr anchor="ctr" marT="50800" marB="50800">
                    <a:solidFill>
                      <a:srgbClr val="FFFFFF"/>
                    </a:solidFill>
                  </a:tcPr>
                </a:tc>
              </a:tr>
              <a:tr h="407670">
                <a:tc>
                  <a:txBody>
                    <a:bodyPr/>
                    <a:lstStyle/>
                    <a:p>
                      <a:r>
                        <a:rPr sz="1150">
                          <a:solidFill>
                            <a:srgbClr val="222A24"/>
                          </a:solidFill>
                          <a:latin typeface="Calibri"/>
                        </a:rPr>
                        <a:t>2</a:t>
                      </a:r>
                    </a:p>
                  </a:txBody>
                  <a:tcPr anchor="ctr" marT="50800" marB="50800">
                    <a:solidFill>
                      <a:srgbClr val="F1ECDD"/>
                    </a:solidFill>
                  </a:tcPr>
                </a:tc>
                <a:tc>
                  <a:txBody>
                    <a:bodyPr/>
                    <a:lstStyle/>
                    <a:p>
                      <a:r>
                        <a:rPr sz="1150">
                          <a:solidFill>
                            <a:srgbClr val="222A24"/>
                          </a:solidFill>
                          <a:latin typeface="Calibri"/>
                        </a:rPr>
                        <a:t>/bmad-forge-idea</a:t>
                      </a:r>
                    </a:p>
                  </a:txBody>
                  <a:tcPr anchor="ctr" marT="50800" marB="50800">
                    <a:solidFill>
                      <a:srgbClr val="F1ECDD"/>
                    </a:solidFill>
                  </a:tcPr>
                </a:tc>
                <a:tc>
                  <a:txBody>
                    <a:bodyPr/>
                    <a:lstStyle/>
                    <a:p>
                      <a:r>
                        <a:rPr sz="1150">
                          <a:solidFill>
                            <a:srgbClr val="222A24"/>
                          </a:solidFill>
                          <a:latin typeface="Calibri"/>
                        </a:rPr>
                        <a:t>Pressure-tests an idea via persona-driven interrogation until it hardens, proves out, or dies cheaply.</a:t>
                      </a:r>
                    </a:p>
                  </a:txBody>
                  <a:tcPr anchor="ctr" marT="50800" marB="50800">
                    <a:solidFill>
                      <a:srgbClr val="F1ECDD"/>
                    </a:solidFill>
                  </a:tcPr>
                </a:tc>
              </a:tr>
              <a:tr h="407670">
                <a:tc>
                  <a:txBody>
                    <a:bodyPr/>
                    <a:lstStyle/>
                    <a:p>
                      <a:r>
                        <a:rPr sz="1150">
                          <a:solidFill>
                            <a:srgbClr val="222A24"/>
                          </a:solidFill>
                          <a:latin typeface="Calibri"/>
                        </a:rPr>
                        <a:t>3</a:t>
                      </a:r>
                    </a:p>
                  </a:txBody>
                  <a:tcPr anchor="ctr" marT="50800" marB="50800">
                    <a:solidFill>
                      <a:srgbClr val="FFFFFF"/>
                    </a:solidFill>
                  </a:tcPr>
                </a:tc>
                <a:tc>
                  <a:txBody>
                    <a:bodyPr/>
                    <a:lstStyle/>
                    <a:p>
                      <a:r>
                        <a:rPr sz="1150">
                          <a:solidFill>
                            <a:srgbClr val="222A24"/>
                          </a:solidFill>
                          <a:latin typeface="Calibri"/>
                        </a:rPr>
                        <a:t>/bmad-project-context</a:t>
                      </a:r>
                    </a:p>
                  </a:txBody>
                  <a:tcPr anchor="ctr" marT="50800" marB="50800">
                    <a:solidFill>
                      <a:srgbClr val="FFFFFF"/>
                    </a:solidFill>
                  </a:tcPr>
                </a:tc>
                <a:tc>
                  <a:txBody>
                    <a:bodyPr/>
                    <a:lstStyle/>
                    <a:p>
                      <a:r>
                        <a:rPr sz="1150">
                          <a:solidFill>
                            <a:srgbClr val="222A24"/>
                          </a:solidFill>
                          <a:latin typeface="Calibri"/>
                        </a:rPr>
                        <a:t>Generates project-context.md — the AI working rules/conventions for the whole project.</a:t>
                      </a:r>
                    </a:p>
                  </a:txBody>
                  <a:tcPr anchor="ctr" marT="50800" marB="50800">
                    <a:solidFill>
                      <a:srgbClr val="FFFFFF"/>
                    </a:solidFill>
                  </a:tcPr>
                </a:tc>
              </a:tr>
              <a:tr h="407670">
                <a:tc>
                  <a:txBody>
                    <a:bodyPr/>
                    <a:lstStyle/>
                    <a:p>
                      <a:r>
                        <a:rPr sz="1150">
                          <a:solidFill>
                            <a:srgbClr val="222A24"/>
                          </a:solidFill>
                          <a:latin typeface="Calibri"/>
                        </a:rPr>
                        <a:t>4</a:t>
                      </a:r>
                    </a:p>
                  </a:txBody>
                  <a:tcPr anchor="ctr" marT="50800" marB="50800">
                    <a:solidFill>
                      <a:srgbClr val="F1ECDD"/>
                    </a:solidFill>
                  </a:tcPr>
                </a:tc>
                <a:tc>
                  <a:txBody>
                    <a:bodyPr/>
                    <a:lstStyle/>
                    <a:p>
                      <a:r>
                        <a:rPr sz="1150">
                          <a:solidFill>
                            <a:srgbClr val="222A24"/>
                          </a:solidFill>
                          <a:latin typeface="Calibri"/>
                        </a:rPr>
                        <a:t>/bmad-cis-agent-design-thinking-coach</a:t>
                      </a:r>
                    </a:p>
                  </a:txBody>
                  <a:tcPr anchor="ctr" marT="50800" marB="50800">
                    <a:solidFill>
                      <a:srgbClr val="F1ECDD"/>
                    </a:solidFill>
                  </a:tcPr>
                </a:tc>
                <a:tc>
                  <a:txBody>
                    <a:bodyPr/>
                    <a:lstStyle/>
                    <a:p>
                      <a:r>
                        <a:rPr sz="1150">
                          <a:solidFill>
                            <a:srgbClr val="222A24"/>
                          </a:solidFill>
                          <a:latin typeface="Calibri"/>
                        </a:rPr>
                        <a:t>Maya: guides empathy-driven, human-centered design thinking sessions.</a:t>
                      </a:r>
                    </a:p>
                  </a:txBody>
                  <a:tcPr anchor="ctr" marT="50800" marB="50800">
                    <a:solidFill>
                      <a:srgbClr val="F1ECDD"/>
                    </a:solidFill>
                  </a:tcPr>
                </a:tc>
              </a:tr>
              <a:tr h="407670">
                <a:tc>
                  <a:txBody>
                    <a:bodyPr/>
                    <a:lstStyle/>
                    <a:p>
                      <a:r>
                        <a:rPr sz="1150">
                          <a:solidFill>
                            <a:srgbClr val="222A24"/>
                          </a:solidFill>
                          <a:latin typeface="Calibri"/>
                        </a:rPr>
                        <a:t>5</a:t>
                      </a:r>
                    </a:p>
                  </a:txBody>
                  <a:tcPr anchor="ctr" marT="50800" marB="50800">
                    <a:solidFill>
                      <a:srgbClr val="FFFFFF"/>
                    </a:solidFill>
                  </a:tcPr>
                </a:tc>
                <a:tc>
                  <a:txBody>
                    <a:bodyPr/>
                    <a:lstStyle/>
                    <a:p>
                      <a:r>
                        <a:rPr sz="1150">
                          <a:solidFill>
                            <a:srgbClr val="222A24"/>
                          </a:solidFill>
                          <a:latin typeface="Calibri"/>
                        </a:rPr>
                        <a:t>/bmad-cis-agent-innovation-coach</a:t>
                      </a:r>
                    </a:p>
                  </a:txBody>
                  <a:tcPr anchor="ctr" marT="50800" marB="50800">
                    <a:solidFill>
                      <a:srgbClr val="FFFFFF"/>
                    </a:solidFill>
                  </a:tcPr>
                </a:tc>
                <a:tc>
                  <a:txBody>
                    <a:bodyPr/>
                    <a:lstStyle/>
                    <a:p>
                      <a:r>
                        <a:rPr sz="1150">
                          <a:solidFill>
                            <a:srgbClr val="222A24"/>
                          </a:solidFill>
                          <a:latin typeface="Calibri"/>
                        </a:rPr>
                        <a:t>Victor: disruptive-innovation strategist finding business-model disruption angles.</a:t>
                      </a:r>
                    </a:p>
                  </a:txBody>
                  <a:tcPr anchor="ctr" marT="50800" marB="50800">
                    <a:solidFill>
                      <a:srgbClr val="FFFFFF"/>
                    </a:solidFill>
                  </a:tcPr>
                </a:tc>
              </a:tr>
              <a:tr h="407670">
                <a:tc>
                  <a:txBody>
                    <a:bodyPr/>
                    <a:lstStyle/>
                    <a:p>
                      <a:r>
                        <a:rPr sz="1150">
                          <a:solidFill>
                            <a:srgbClr val="222A24"/>
                          </a:solidFill>
                          <a:latin typeface="Calibri"/>
                        </a:rPr>
                        <a:t>6</a:t>
                      </a:r>
                    </a:p>
                  </a:txBody>
                  <a:tcPr anchor="ctr" marT="50800" marB="50800">
                    <a:solidFill>
                      <a:srgbClr val="F1ECDD"/>
                    </a:solidFill>
                  </a:tcPr>
                </a:tc>
                <a:tc>
                  <a:txBody>
                    <a:bodyPr/>
                    <a:lstStyle/>
                    <a:p>
                      <a:r>
                        <a:rPr sz="1150">
                          <a:solidFill>
                            <a:srgbClr val="222A24"/>
                          </a:solidFill>
                          <a:latin typeface="Calibri"/>
                        </a:rPr>
                        <a:t>/bmad-market-research</a:t>
                      </a:r>
                    </a:p>
                  </a:txBody>
                  <a:tcPr anchor="ctr" marT="50800" marB="50800">
                    <a:solidFill>
                      <a:srgbClr val="F1ECDD"/>
                    </a:solidFill>
                  </a:tcPr>
                </a:tc>
                <a:tc>
                  <a:txBody>
                    <a:bodyPr/>
                    <a:lstStyle/>
                    <a:p>
                      <a:r>
                        <a:rPr sz="1150">
                          <a:solidFill>
                            <a:srgbClr val="222A24"/>
                          </a:solidFill>
                          <a:latin typeface="Calibri"/>
                        </a:rPr>
                        <a:t>Researches the competitive market and target customers.</a:t>
                      </a:r>
                    </a:p>
                  </a:txBody>
                  <a:tcPr anchor="ctr" marT="50800" marB="50800">
                    <a:solidFill>
                      <a:srgbClr val="F1ECDD"/>
                    </a:solidFill>
                  </a:tcPr>
                </a:tc>
              </a:tr>
              <a:tr h="407670">
                <a:tc>
                  <a:txBody>
                    <a:bodyPr/>
                    <a:lstStyle/>
                    <a:p>
                      <a:r>
                        <a:rPr sz="1150">
                          <a:solidFill>
                            <a:srgbClr val="222A24"/>
                          </a:solidFill>
                          <a:latin typeface="Calibri"/>
                        </a:rPr>
                        <a:t>7</a:t>
                      </a:r>
                    </a:p>
                  </a:txBody>
                  <a:tcPr anchor="ctr" marT="50800" marB="50800">
                    <a:solidFill>
                      <a:srgbClr val="FFFFFF"/>
                    </a:solidFill>
                  </a:tcPr>
                </a:tc>
                <a:tc>
                  <a:txBody>
                    <a:bodyPr/>
                    <a:lstStyle/>
                    <a:p>
                      <a:r>
                        <a:rPr sz="1150">
                          <a:solidFill>
                            <a:srgbClr val="222A24"/>
                          </a:solidFill>
                          <a:latin typeface="Calibri"/>
                        </a:rPr>
                        <a:t>/bmad-domain-research</a:t>
                      </a:r>
                    </a:p>
                  </a:txBody>
                  <a:tcPr anchor="ctr" marT="50800" marB="50800">
                    <a:solidFill>
                      <a:srgbClr val="FFFFFF"/>
                    </a:solidFill>
                  </a:tcPr>
                </a:tc>
                <a:tc>
                  <a:txBody>
                    <a:bodyPr/>
                    <a:lstStyle/>
                    <a:p>
                      <a:r>
                        <a:rPr sz="1150">
                          <a:solidFill>
                            <a:srgbClr val="222A24"/>
                          </a:solidFill>
                          <a:latin typeface="Calibri"/>
                        </a:rPr>
                        <a:t>Researches the domain/industry the product operates in.</a:t>
                      </a:r>
                    </a:p>
                  </a:txBody>
                  <a:tcPr anchor="ctr" marT="50800" marB="50800">
                    <a:solidFill>
                      <a:srgbClr val="FFFFFF"/>
                    </a:solidFill>
                  </a:tcPr>
                </a:tc>
              </a:tr>
              <a:tr h="407670">
                <a:tc>
                  <a:txBody>
                    <a:bodyPr/>
                    <a:lstStyle/>
                    <a:p>
                      <a:r>
                        <a:rPr sz="1150">
                          <a:solidFill>
                            <a:srgbClr val="222A24"/>
                          </a:solidFill>
                          <a:latin typeface="Calibri"/>
                        </a:rPr>
                        <a:t>8</a:t>
                      </a:r>
                    </a:p>
                  </a:txBody>
                  <a:tcPr anchor="ctr" marT="50800" marB="50800">
                    <a:solidFill>
                      <a:srgbClr val="F1ECDD"/>
                    </a:solidFill>
                  </a:tcPr>
                </a:tc>
                <a:tc>
                  <a:txBody>
                    <a:bodyPr/>
                    <a:lstStyle/>
                    <a:p>
                      <a:r>
                        <a:rPr sz="1150">
                          <a:solidFill>
                            <a:srgbClr val="222A24"/>
                          </a:solidFill>
                          <a:latin typeface="Calibri"/>
                        </a:rPr>
                        <a:t>/bmad-technical-research</a:t>
                      </a:r>
                    </a:p>
                  </a:txBody>
                  <a:tcPr anchor="ctr" marT="50800" marB="50800">
                    <a:solidFill>
                      <a:srgbClr val="F1ECDD"/>
                    </a:solidFill>
                  </a:tcPr>
                </a:tc>
                <a:tc>
                  <a:txBody>
                    <a:bodyPr/>
                    <a:lstStyle/>
                    <a:p>
                      <a:r>
                        <a:rPr sz="1150">
                          <a:solidFill>
                            <a:srgbClr val="222A24"/>
                          </a:solidFill>
                          <a:latin typeface="Calibri"/>
                        </a:rPr>
                        <a:t>Researches candidate technologies, stacks, and architecture approaches.</a:t>
                      </a:r>
                    </a:p>
                  </a:txBody>
                  <a:tcPr anchor="ctr" marT="50800" marB="50800">
                    <a:solidFill>
                      <a:srgbClr val="F1ECDD"/>
                    </a:solidFill>
                  </a:tcPr>
                </a:tc>
              </a:tr>
              <a:tr h="407670">
                <a:tc>
                  <a:txBody>
                    <a:bodyPr/>
                    <a:lstStyle/>
                    <a:p>
                      <a:r>
                        <a:rPr sz="1150">
                          <a:solidFill>
                            <a:srgbClr val="222A24"/>
                          </a:solidFill>
                          <a:latin typeface="Calibri"/>
                        </a:rPr>
                        <a:t>9</a:t>
                      </a:r>
                    </a:p>
                  </a:txBody>
                  <a:tcPr anchor="ctr" marT="50800" marB="50800">
                    <a:solidFill>
                      <a:srgbClr val="FFFFFF"/>
                    </a:solidFill>
                  </a:tcPr>
                </a:tc>
                <a:tc>
                  <a:txBody>
                    <a:bodyPr/>
                    <a:lstStyle/>
                    <a:p>
                      <a:r>
                        <a:rPr sz="1150">
                          <a:solidFill>
                            <a:srgbClr val="222A24"/>
                          </a:solidFill>
                          <a:latin typeface="Calibri"/>
                        </a:rPr>
                        <a:t>/bmad-product-brief</a:t>
                      </a:r>
                    </a:p>
                  </a:txBody>
                  <a:tcPr anchor="ctr" marT="50800" marB="50800">
                    <a:solidFill>
                      <a:srgbClr val="FFFFFF"/>
                    </a:solidFill>
                  </a:tcPr>
                </a:tc>
                <a:tc>
                  <a:txBody>
                    <a:bodyPr/>
                    <a:lstStyle/>
                    <a:p>
                      <a:r>
                        <a:rPr sz="1150">
                          <a:solidFill>
                            <a:srgbClr val="222A24"/>
                          </a:solidFill>
                          <a:latin typeface="Calibri"/>
                        </a:rPr>
                        <a:t>Produces/validates the product brief — vision, users, positioning, business case.</a:t>
                      </a:r>
                    </a:p>
                  </a:txBody>
                  <a:tcPr anchor="ctr" marT="50800" marB="50800">
                    <a:solidFill>
                      <a:srgbClr val="FFFFFF"/>
                    </a:solidFill>
                  </a:tcPr>
                </a:tc>
              </a:tr>
              <a:tr h="407670">
                <a:tc>
                  <a:txBody>
                    <a:bodyPr/>
                    <a:lstStyle/>
                    <a:p>
                      <a:r>
                        <a:rPr sz="1150">
                          <a:solidFill>
                            <a:srgbClr val="222A24"/>
                          </a:solidFill>
                          <a:latin typeface="Calibri"/>
                        </a:rPr>
                        <a:t>10</a:t>
                      </a:r>
                    </a:p>
                  </a:txBody>
                  <a:tcPr anchor="ctr" marT="50800" marB="50800">
                    <a:solidFill>
                      <a:srgbClr val="F1ECDD"/>
                    </a:solidFill>
                  </a:tcPr>
                </a:tc>
                <a:tc>
                  <a:txBody>
                    <a:bodyPr/>
                    <a:lstStyle/>
                    <a:p>
                      <a:r>
                        <a:rPr sz="1150">
                          <a:solidFill>
                            <a:srgbClr val="222A24"/>
                          </a:solidFill>
                          <a:latin typeface="Calibri"/>
                        </a:rPr>
                        <a:t>/bmad-prfaq</a:t>
                      </a:r>
                    </a:p>
                  </a:txBody>
                  <a:tcPr anchor="ctr" marT="50800" marB="50800">
                    <a:solidFill>
                      <a:srgbClr val="F1ECDD"/>
                    </a:solidFill>
                  </a:tcPr>
                </a:tc>
                <a:tc>
                  <a:txBody>
                    <a:bodyPr/>
                    <a:lstStyle/>
                    <a:p>
                      <a:r>
                        <a:rPr sz="1150">
                          <a:solidFill>
                            <a:srgbClr val="222A24"/>
                          </a:solidFill>
                          <a:latin typeface="Calibri"/>
                        </a:rPr>
                        <a:t>Runs a Working-Backwards PRFAQ challenge to stress-test the concept customer-first.</a:t>
                      </a:r>
                    </a:p>
                  </a:txBody>
                  <a:tcPr anchor="ctr" marT="50800" marB="50800">
                    <a:solidFill>
                      <a:srgbClr val="F1ECDD"/>
                    </a:solidFill>
                  </a:tcPr>
                </a:tc>
              </a:tr>
              <a:tr h="407670">
                <a:tc>
                  <a:txBody>
                    <a:bodyPr/>
                    <a:lstStyle/>
                    <a:p>
                      <a:r>
                        <a:rPr sz="1150">
                          <a:solidFill>
                            <a:srgbClr val="222A24"/>
                          </a:solidFill>
                          <a:latin typeface="Calibri"/>
                        </a:rPr>
                        <a:t>11</a:t>
                      </a:r>
                    </a:p>
                  </a:txBody>
                  <a:tcPr anchor="ctr" marT="50800" marB="50800">
                    <a:solidFill>
                      <a:srgbClr val="FFFFFF"/>
                    </a:solidFill>
                  </a:tcPr>
                </a:tc>
                <a:tc>
                  <a:txBody>
                    <a:bodyPr/>
                    <a:lstStyle/>
                    <a:p>
                      <a:r>
                        <a:rPr sz="1150">
                          <a:solidFill>
                            <a:srgbClr val="222A24"/>
                          </a:solidFill>
                          <a:latin typeface="Calibri"/>
                        </a:rPr>
                        <a:t>/wds-1-project-brief</a:t>
                      </a:r>
                    </a:p>
                  </a:txBody>
                  <a:tcPr anchor="ctr" marT="50800" marB="50800">
                    <a:solidFill>
                      <a:srgbClr val="FFFFFF"/>
                    </a:solidFill>
                  </a:tcPr>
                </a:tc>
                <a:tc>
                  <a:txBody>
                    <a:bodyPr/>
                    <a:lstStyle/>
                    <a:p>
                      <a:r>
                        <a:rPr sz="1150">
                          <a:solidFill>
                            <a:srgbClr val="222A24"/>
                          </a:solidFill>
                          <a:latin typeface="Calibri"/>
                        </a:rPr>
                        <a:t>Establishes the WDS project foundation that all downstream design work builds on.</a:t>
                      </a:r>
                    </a:p>
                  </a:txBody>
                  <a:tcPr anchor="ctr" marT="50800" marB="50800">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08</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BMAD &amp; WDS Skills Used — What Each One Does (2/2)</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Continued — design delivery through sprint execution</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graphicFrame>
        <p:nvGraphicFramePr>
          <p:cNvPr id="8" name="Table 7"/>
          <p:cNvGraphicFramePr>
            <a:graphicFrameLocks noGrp="1"/>
          </p:cNvGraphicFramePr>
          <p:nvPr/>
        </p:nvGraphicFramePr>
        <p:xfrm>
          <a:off x="502920" y="1554480"/>
          <a:ext cx="11201400" cy="4892040"/>
        </p:xfrm>
        <a:graphic>
          <a:graphicData uri="http://schemas.openxmlformats.org/drawingml/2006/table">
            <a:tbl>
              <a:tblPr firstRow="1" bandRow="1">
                <a:tableStyleId>{5C22544A-7EE6-4342-B048-85BDC9FD1C3A}</a:tableStyleId>
              </a:tblPr>
              <a:tblGrid>
                <a:gridCol w="457200"/>
                <a:gridCol w="3200400"/>
                <a:gridCol w="7543800"/>
              </a:tblGrid>
              <a:tr h="407670">
                <a:tc>
                  <a:txBody>
                    <a:bodyPr/>
                    <a:lstStyle/>
                    <a:p>
                      <a:pPr algn="l"/>
                      <a:r>
                        <a:rPr b="1" sz="1300">
                          <a:solidFill>
                            <a:srgbClr val="FFFFFF"/>
                          </a:solidFill>
                          <a:latin typeface="Calibri"/>
                        </a:rPr>
                        <a:t>#</a:t>
                      </a:r>
                    </a:p>
                  </a:txBody>
                  <a:tcPr anchor="ctr">
                    <a:solidFill>
                      <a:srgbClr val="123D30"/>
                    </a:solidFill>
                  </a:tcPr>
                </a:tc>
                <a:tc>
                  <a:txBody>
                    <a:bodyPr/>
                    <a:lstStyle/>
                    <a:p>
                      <a:pPr algn="l"/>
                      <a:r>
                        <a:rPr b="1" sz="1300">
                          <a:solidFill>
                            <a:srgbClr val="FFFFFF"/>
                          </a:solidFill>
                          <a:latin typeface="Calibri"/>
                        </a:rPr>
                        <a:t>Skill</a:t>
                      </a:r>
                    </a:p>
                  </a:txBody>
                  <a:tcPr anchor="ctr">
                    <a:solidFill>
                      <a:srgbClr val="123D30"/>
                    </a:solidFill>
                  </a:tcPr>
                </a:tc>
                <a:tc>
                  <a:txBody>
                    <a:bodyPr/>
                    <a:lstStyle/>
                    <a:p>
                      <a:pPr algn="l"/>
                      <a:r>
                        <a:rPr b="1" sz="1300">
                          <a:solidFill>
                            <a:srgbClr val="FFFFFF"/>
                          </a:solidFill>
                          <a:latin typeface="Calibri"/>
                        </a:rPr>
                        <a:t>What it does, in one line</a:t>
                      </a:r>
                    </a:p>
                  </a:txBody>
                  <a:tcPr anchor="ctr">
                    <a:solidFill>
                      <a:srgbClr val="123D30"/>
                    </a:solidFill>
                  </a:tcPr>
                </a:tc>
              </a:tr>
              <a:tr h="407670">
                <a:tc>
                  <a:txBody>
                    <a:bodyPr/>
                    <a:lstStyle/>
                    <a:p>
                      <a:r>
                        <a:rPr sz="1150">
                          <a:solidFill>
                            <a:srgbClr val="222A24"/>
                          </a:solidFill>
                          <a:latin typeface="Calibri"/>
                        </a:rPr>
                        <a:t>12</a:t>
                      </a:r>
                    </a:p>
                  </a:txBody>
                  <a:tcPr anchor="ctr" marT="50800" marB="50800">
                    <a:solidFill>
                      <a:srgbClr val="FFFFFF"/>
                    </a:solidFill>
                  </a:tcPr>
                </a:tc>
                <a:tc>
                  <a:txBody>
                    <a:bodyPr/>
                    <a:lstStyle/>
                    <a:p>
                      <a:r>
                        <a:rPr sz="1150">
                          <a:solidFill>
                            <a:srgbClr val="222A24"/>
                          </a:solidFill>
                          <a:latin typeface="Calibri"/>
                        </a:rPr>
                        <a:t>/wds-2-trigger-mapping</a:t>
                      </a:r>
                    </a:p>
                  </a:txBody>
                  <a:tcPr anchor="ctr" marT="50800" marB="50800">
                    <a:solidFill>
                      <a:srgbClr val="FFFFFF"/>
                    </a:solidFill>
                  </a:tcPr>
                </a:tc>
                <a:tc>
                  <a:txBody>
                    <a:bodyPr/>
                    <a:lstStyle/>
                    <a:p>
                      <a:r>
                        <a:rPr sz="1150">
                          <a:solidFill>
                            <a:srgbClr val="222A24"/>
                          </a:solidFill>
                          <a:latin typeface="Calibri"/>
                        </a:rPr>
                        <a:t>Maps business goals to user psychology through structured trigger-mapping workshops.</a:t>
                      </a:r>
                    </a:p>
                  </a:txBody>
                  <a:tcPr anchor="ctr" marT="50800" marB="50800">
                    <a:solidFill>
                      <a:srgbClr val="FFFFFF"/>
                    </a:solidFill>
                  </a:tcPr>
                </a:tc>
              </a:tr>
              <a:tr h="407670">
                <a:tc>
                  <a:txBody>
                    <a:bodyPr/>
                    <a:lstStyle/>
                    <a:p>
                      <a:r>
                        <a:rPr sz="1150">
                          <a:solidFill>
                            <a:srgbClr val="222A24"/>
                          </a:solidFill>
                          <a:latin typeface="Calibri"/>
                        </a:rPr>
                        <a:t>13</a:t>
                      </a:r>
                    </a:p>
                  </a:txBody>
                  <a:tcPr anchor="ctr" marT="50800" marB="50800">
                    <a:solidFill>
                      <a:srgbClr val="F1ECDD"/>
                    </a:solidFill>
                  </a:tcPr>
                </a:tc>
                <a:tc>
                  <a:txBody>
                    <a:bodyPr/>
                    <a:lstStyle/>
                    <a:p>
                      <a:r>
                        <a:rPr sz="1150">
                          <a:solidFill>
                            <a:srgbClr val="222A24"/>
                          </a:solidFill>
                          <a:latin typeface="Calibri"/>
                        </a:rPr>
                        <a:t>/wds-3-scenarious</a:t>
                      </a:r>
                    </a:p>
                  </a:txBody>
                  <a:tcPr anchor="ctr" marT="50800" marB="50800">
                    <a:solidFill>
                      <a:srgbClr val="F1ECDD"/>
                    </a:solidFill>
                  </a:tcPr>
                </a:tc>
                <a:tc>
                  <a:txBody>
                    <a:bodyPr/>
                    <a:lstStyle/>
                    <a:p>
                      <a:r>
                        <a:rPr sz="1150">
                          <a:solidFill>
                            <a:srgbClr val="222A24"/>
                          </a:solidFill>
                          <a:latin typeface="Calibri"/>
                        </a:rPr>
                        <a:t>Builds UX scenario outlines from the Trigger Map through structured micro-steps.</a:t>
                      </a:r>
                    </a:p>
                  </a:txBody>
                  <a:tcPr anchor="ctr" marT="50800" marB="50800">
                    <a:solidFill>
                      <a:srgbClr val="F1ECDD"/>
                    </a:solidFill>
                  </a:tcPr>
                </a:tc>
              </a:tr>
              <a:tr h="407670">
                <a:tc>
                  <a:txBody>
                    <a:bodyPr/>
                    <a:lstStyle/>
                    <a:p>
                      <a:r>
                        <a:rPr sz="1150">
                          <a:solidFill>
                            <a:srgbClr val="222A24"/>
                          </a:solidFill>
                          <a:latin typeface="Calibri"/>
                        </a:rPr>
                        <a:t>14</a:t>
                      </a:r>
                    </a:p>
                  </a:txBody>
                  <a:tcPr anchor="ctr" marT="50800" marB="50800">
                    <a:solidFill>
                      <a:srgbClr val="FFFFFF"/>
                    </a:solidFill>
                  </a:tcPr>
                </a:tc>
                <a:tc>
                  <a:txBody>
                    <a:bodyPr/>
                    <a:lstStyle/>
                    <a:p>
                      <a:r>
                        <a:rPr sz="1150">
                          <a:solidFill>
                            <a:srgbClr val="222A24"/>
                          </a:solidFill>
                          <a:latin typeface="Calibri"/>
                        </a:rPr>
                        <a:t>/wds-ux-design</a:t>
                      </a:r>
                    </a:p>
                  </a:txBody>
                  <a:tcPr anchor="ctr" marT="50800" marB="50800">
                    <a:solidFill>
                      <a:srgbClr val="FFFFFF"/>
                    </a:solidFill>
                  </a:tcPr>
                </a:tc>
                <a:tc>
                  <a:txBody>
                    <a:bodyPr/>
                    <a:lstStyle/>
                    <a:p>
                      <a:r>
                        <a:rPr sz="1150">
                          <a:solidFill>
                            <a:srgbClr val="222A24"/>
                          </a:solidFill>
                          <a:latin typeface="Calibri"/>
                        </a:rPr>
                        <a:t>Turns scenarios into detailed, screen-level visual &amp; interaction design specs.</a:t>
                      </a:r>
                    </a:p>
                  </a:txBody>
                  <a:tcPr anchor="ctr" marT="50800" marB="50800">
                    <a:solidFill>
                      <a:srgbClr val="FFFFFF"/>
                    </a:solidFill>
                  </a:tcPr>
                </a:tc>
              </a:tr>
              <a:tr h="407670">
                <a:tc>
                  <a:txBody>
                    <a:bodyPr/>
                    <a:lstStyle/>
                    <a:p>
                      <a:r>
                        <a:rPr sz="1150">
                          <a:solidFill>
                            <a:srgbClr val="222A24"/>
                          </a:solidFill>
                          <a:latin typeface="Calibri"/>
                        </a:rPr>
                        <a:t>15</a:t>
                      </a:r>
                    </a:p>
                  </a:txBody>
                  <a:tcPr anchor="ctr" marT="50800" marB="50800">
                    <a:solidFill>
                      <a:srgbClr val="F1ECDD"/>
                    </a:solidFill>
                  </a:tcPr>
                </a:tc>
                <a:tc>
                  <a:txBody>
                    <a:bodyPr/>
                    <a:lstStyle/>
                    <a:p>
                      <a:r>
                        <a:rPr sz="1150">
                          <a:solidFill>
                            <a:srgbClr val="222A24"/>
                          </a:solidFill>
                          <a:latin typeface="Calibri"/>
                        </a:rPr>
                        <a:t>/wds-agentic-development</a:t>
                      </a:r>
                    </a:p>
                  </a:txBody>
                  <a:tcPr anchor="ctr" marT="50800" marB="50800">
                    <a:solidFill>
                      <a:srgbClr val="F1ECDD"/>
                    </a:solidFill>
                  </a:tcPr>
                </a:tc>
                <a:tc>
                  <a:txBody>
                    <a:bodyPr/>
                    <a:lstStyle/>
                    <a:p>
                      <a:r>
                        <a:rPr sz="1150">
                          <a:solidFill>
                            <a:srgbClr val="222A24"/>
                          </a:solidFill>
                          <a:latin typeface="Calibri"/>
                        </a:rPr>
                        <a:t>AI-assisted prototype build, test, and reverse-engineering from the design specs.</a:t>
                      </a:r>
                    </a:p>
                  </a:txBody>
                  <a:tcPr anchor="ctr" marT="50800" marB="50800">
                    <a:solidFill>
                      <a:srgbClr val="F1ECDD"/>
                    </a:solidFill>
                  </a:tcPr>
                </a:tc>
              </a:tr>
              <a:tr h="407670">
                <a:tc>
                  <a:txBody>
                    <a:bodyPr/>
                    <a:lstStyle/>
                    <a:p>
                      <a:r>
                        <a:rPr sz="1150">
                          <a:solidFill>
                            <a:srgbClr val="222A24"/>
                          </a:solidFill>
                          <a:latin typeface="Calibri"/>
                        </a:rPr>
                        <a:t>16</a:t>
                      </a:r>
                    </a:p>
                  </a:txBody>
                  <a:tcPr anchor="ctr" marT="50800" marB="50800">
                    <a:solidFill>
                      <a:srgbClr val="FFFFFF"/>
                    </a:solidFill>
                  </a:tcPr>
                </a:tc>
                <a:tc>
                  <a:txBody>
                    <a:bodyPr/>
                    <a:lstStyle/>
                    <a:p>
                      <a:r>
                        <a:rPr sz="1150">
                          <a:solidFill>
                            <a:srgbClr val="222A24"/>
                          </a:solidFill>
                          <a:latin typeface="Calibri"/>
                        </a:rPr>
                        <a:t>/bmad-prd</a:t>
                      </a:r>
                    </a:p>
                  </a:txBody>
                  <a:tcPr anchor="ctr" marT="50800" marB="50800">
                    <a:solidFill>
                      <a:srgbClr val="FFFFFF"/>
                    </a:solidFill>
                  </a:tcPr>
                </a:tc>
                <a:tc>
                  <a:txBody>
                    <a:bodyPr/>
                    <a:lstStyle/>
                    <a:p>
                      <a:r>
                        <a:rPr sz="1150">
                          <a:solidFill>
                            <a:srgbClr val="222A24"/>
                          </a:solidFill>
                          <a:latin typeface="Calibri"/>
                        </a:rPr>
                        <a:t>Creates, updates, and validates the full Product Requirements Document.</a:t>
                      </a:r>
                    </a:p>
                  </a:txBody>
                  <a:tcPr anchor="ctr" marT="50800" marB="50800">
                    <a:solidFill>
                      <a:srgbClr val="FFFFFF"/>
                    </a:solidFill>
                  </a:tcPr>
                </a:tc>
              </a:tr>
              <a:tr h="407670">
                <a:tc>
                  <a:txBody>
                    <a:bodyPr/>
                    <a:lstStyle/>
                    <a:p>
                      <a:r>
                        <a:rPr sz="1150">
                          <a:solidFill>
                            <a:srgbClr val="222A24"/>
                          </a:solidFill>
                          <a:latin typeface="Calibri"/>
                        </a:rPr>
                        <a:t>17</a:t>
                      </a:r>
                    </a:p>
                  </a:txBody>
                  <a:tcPr anchor="ctr" marT="50800" marB="50800">
                    <a:solidFill>
                      <a:srgbClr val="F1ECDD"/>
                    </a:solidFill>
                  </a:tcPr>
                </a:tc>
                <a:tc>
                  <a:txBody>
                    <a:bodyPr/>
                    <a:lstStyle/>
                    <a:p>
                      <a:r>
                        <a:rPr sz="1150">
                          <a:solidFill>
                            <a:srgbClr val="222A24"/>
                          </a:solidFill>
                          <a:latin typeface="Calibri"/>
                        </a:rPr>
                        <a:t>/bmad-agent-architect</a:t>
                      </a:r>
                    </a:p>
                  </a:txBody>
                  <a:tcPr anchor="ctr" marT="50800" marB="50800">
                    <a:solidFill>
                      <a:srgbClr val="F1ECDD"/>
                    </a:solidFill>
                  </a:tcPr>
                </a:tc>
                <a:tc>
                  <a:txBody>
                    <a:bodyPr/>
                    <a:lstStyle/>
                    <a:p>
                      <a:r>
                        <a:rPr sz="1150">
                          <a:solidFill>
                            <a:srgbClr val="222A24"/>
                          </a:solidFill>
                          <a:latin typeface="Calibri"/>
                        </a:rPr>
                        <a:t>Winston: system architect producing the technical Architecture Spine + Solution Design.</a:t>
                      </a:r>
                    </a:p>
                  </a:txBody>
                  <a:tcPr anchor="ctr" marT="50800" marB="50800">
                    <a:solidFill>
                      <a:srgbClr val="F1ECDD"/>
                    </a:solidFill>
                  </a:tcPr>
                </a:tc>
              </a:tr>
              <a:tr h="407670">
                <a:tc>
                  <a:txBody>
                    <a:bodyPr/>
                    <a:lstStyle/>
                    <a:p>
                      <a:r>
                        <a:rPr sz="1150">
                          <a:solidFill>
                            <a:srgbClr val="222A24"/>
                          </a:solidFill>
                          <a:latin typeface="Calibri"/>
                        </a:rPr>
                        <a:t>18</a:t>
                      </a:r>
                    </a:p>
                  </a:txBody>
                  <a:tcPr anchor="ctr" marT="50800" marB="50800">
                    <a:solidFill>
                      <a:srgbClr val="FFFFFF"/>
                    </a:solidFill>
                  </a:tcPr>
                </a:tc>
                <a:tc>
                  <a:txBody>
                    <a:bodyPr/>
                    <a:lstStyle/>
                    <a:p>
                      <a:r>
                        <a:rPr sz="1150">
                          <a:solidFill>
                            <a:srgbClr val="222A24"/>
                          </a:solidFill>
                          <a:latin typeface="Calibri"/>
                        </a:rPr>
                        <a:t>/bmad-project-context</a:t>
                      </a:r>
                    </a:p>
                  </a:txBody>
                  <a:tcPr anchor="ctr" marT="50800" marB="50800">
                    <a:solidFill>
                      <a:srgbClr val="FFFFFF"/>
                    </a:solidFill>
                  </a:tcPr>
                </a:tc>
                <a:tc>
                  <a:txBody>
                    <a:bodyPr/>
                    <a:lstStyle/>
                    <a:p>
                      <a:r>
                        <a:rPr sz="1150">
                          <a:solidFill>
                            <a:srgbClr val="222A24"/>
                          </a:solidFill>
                          <a:latin typeface="Calibri"/>
                        </a:rPr>
                        <a:t>(re-run) Refreshes project-context.md once implementation artifacts exist.</a:t>
                      </a:r>
                    </a:p>
                  </a:txBody>
                  <a:tcPr anchor="ctr" marT="50800" marB="50800">
                    <a:solidFill>
                      <a:srgbClr val="FFFFFF"/>
                    </a:solidFill>
                  </a:tcPr>
                </a:tc>
              </a:tr>
              <a:tr h="407670">
                <a:tc>
                  <a:txBody>
                    <a:bodyPr/>
                    <a:lstStyle/>
                    <a:p>
                      <a:r>
                        <a:rPr sz="1150">
                          <a:solidFill>
                            <a:srgbClr val="222A24"/>
                          </a:solidFill>
                          <a:latin typeface="Calibri"/>
                        </a:rPr>
                        <a:t>19</a:t>
                      </a:r>
                    </a:p>
                  </a:txBody>
                  <a:tcPr anchor="ctr" marT="50800" marB="50800">
                    <a:solidFill>
                      <a:srgbClr val="F1ECDD"/>
                    </a:solidFill>
                  </a:tcPr>
                </a:tc>
                <a:tc>
                  <a:txBody>
                    <a:bodyPr/>
                    <a:lstStyle/>
                    <a:p>
                      <a:r>
                        <a:rPr sz="1150">
                          <a:solidFill>
                            <a:srgbClr val="222A24"/>
                          </a:solidFill>
                          <a:latin typeface="Calibri"/>
                        </a:rPr>
                        <a:t>/bmad-check-implementation-readiness</a:t>
                      </a:r>
                    </a:p>
                  </a:txBody>
                  <a:tcPr anchor="ctr" marT="50800" marB="50800">
                    <a:solidFill>
                      <a:srgbClr val="F1ECDD"/>
                    </a:solidFill>
                  </a:tcPr>
                </a:tc>
                <a:tc>
                  <a:txBody>
                    <a:bodyPr/>
                    <a:lstStyle/>
                    <a:p>
                      <a:r>
                        <a:rPr sz="1150">
                          <a:solidFill>
                            <a:srgbClr val="222A24"/>
                          </a:solidFill>
                          <a:latin typeface="Calibri"/>
                        </a:rPr>
                        <a:t>Validates that PRD, UX, Architecture, and Epics are complete and mutually consistent.</a:t>
                      </a:r>
                    </a:p>
                  </a:txBody>
                  <a:tcPr anchor="ctr" marT="50800" marB="50800">
                    <a:solidFill>
                      <a:srgbClr val="F1ECDD"/>
                    </a:solidFill>
                  </a:tcPr>
                </a:tc>
              </a:tr>
              <a:tr h="407670">
                <a:tc>
                  <a:txBody>
                    <a:bodyPr/>
                    <a:lstStyle/>
                    <a:p>
                      <a:r>
                        <a:rPr sz="1150">
                          <a:solidFill>
                            <a:srgbClr val="222A24"/>
                          </a:solidFill>
                          <a:latin typeface="Calibri"/>
                        </a:rPr>
                        <a:t>20</a:t>
                      </a:r>
                    </a:p>
                  </a:txBody>
                  <a:tcPr anchor="ctr" marT="50800" marB="50800">
                    <a:solidFill>
                      <a:srgbClr val="FFFFFF"/>
                    </a:solidFill>
                  </a:tcPr>
                </a:tc>
                <a:tc>
                  <a:txBody>
                    <a:bodyPr/>
                    <a:lstStyle/>
                    <a:p>
                      <a:r>
                        <a:rPr sz="1150">
                          <a:solidFill>
                            <a:srgbClr val="222A24"/>
                          </a:solidFill>
                          <a:latin typeface="Calibri"/>
                        </a:rPr>
                        <a:t>/bmad-agent-pm</a:t>
                      </a:r>
                    </a:p>
                  </a:txBody>
                  <a:tcPr anchor="ctr" marT="50800" marB="50800">
                    <a:solidFill>
                      <a:srgbClr val="FFFFFF"/>
                    </a:solidFill>
                  </a:tcPr>
                </a:tc>
                <a:tc>
                  <a:txBody>
                    <a:bodyPr/>
                    <a:lstStyle/>
                    <a:p>
                      <a:r>
                        <a:rPr sz="1150">
                          <a:solidFill>
                            <a:srgbClr val="222A24"/>
                          </a:solidFill>
                          <a:latin typeface="Calibri"/>
                        </a:rPr>
                        <a:t>John: product manager driving epics/PRD requirements discovery and breakdown.</a:t>
                      </a:r>
                    </a:p>
                  </a:txBody>
                  <a:tcPr anchor="ctr" marT="50800" marB="50800">
                    <a:solidFill>
                      <a:srgbClr val="FFFFFF"/>
                    </a:solidFill>
                  </a:tcPr>
                </a:tc>
              </a:tr>
              <a:tr h="407670">
                <a:tc>
                  <a:txBody>
                    <a:bodyPr/>
                    <a:lstStyle/>
                    <a:p>
                      <a:r>
                        <a:rPr sz="1150">
                          <a:solidFill>
                            <a:srgbClr val="222A24"/>
                          </a:solidFill>
                          <a:latin typeface="Calibri"/>
                        </a:rPr>
                        <a:t>21</a:t>
                      </a:r>
                    </a:p>
                  </a:txBody>
                  <a:tcPr anchor="ctr" marT="50800" marB="50800">
                    <a:solidFill>
                      <a:srgbClr val="F1ECDD"/>
                    </a:solidFill>
                  </a:tcPr>
                </a:tc>
                <a:tc>
                  <a:txBody>
                    <a:bodyPr/>
                    <a:lstStyle/>
                    <a:p>
                      <a:r>
                        <a:rPr sz="1150">
                          <a:solidFill>
                            <a:srgbClr val="222A24"/>
                          </a:solidFill>
                          <a:latin typeface="Calibri"/>
                        </a:rPr>
                        <a:t>/bmad-agent-dev</a:t>
                      </a:r>
                    </a:p>
                  </a:txBody>
                  <a:tcPr anchor="ctr" marT="50800" marB="50800">
                    <a:solidFill>
                      <a:srgbClr val="F1ECDD"/>
                    </a:solidFill>
                  </a:tcPr>
                </a:tc>
                <a:tc>
                  <a:txBody>
                    <a:bodyPr/>
                    <a:lstStyle/>
                    <a:p>
                      <a:r>
                        <a:rPr sz="1150">
                          <a:solidFill>
                            <a:srgbClr val="222A24"/>
                          </a:solidFill>
                          <a:latin typeface="Calibri"/>
                        </a:rPr>
                        <a:t>Amelia: senior engineer who executes a story spec into working, tested code.</a:t>
                      </a:r>
                    </a:p>
                  </a:txBody>
                  <a:tcPr anchor="ctr" marT="50800" marB="50800">
                    <a:solidFill>
                      <a:srgbClr val="F1ECDD"/>
                    </a:solidFill>
                  </a:tcPr>
                </a:tc>
              </a:tr>
              <a:tr h="407670">
                <a:tc>
                  <a:txBody>
                    <a:bodyPr/>
                    <a:lstStyle/>
                    <a:p>
                      <a:r>
                        <a:rPr sz="1150">
                          <a:solidFill>
                            <a:srgbClr val="222A24"/>
                          </a:solidFill>
                          <a:latin typeface="Calibri"/>
                        </a:rPr>
                        <a:t>22</a:t>
                      </a:r>
                    </a:p>
                  </a:txBody>
                  <a:tcPr anchor="ctr" marT="50800" marB="50800">
                    <a:solidFill>
                      <a:srgbClr val="FFFFFF"/>
                    </a:solidFill>
                  </a:tcPr>
                </a:tc>
                <a:tc>
                  <a:txBody>
                    <a:bodyPr/>
                    <a:lstStyle/>
                    <a:p>
                      <a:r>
                        <a:rPr sz="1150">
                          <a:solidFill>
                            <a:srgbClr val="222A24"/>
                          </a:solidFill>
                          <a:latin typeface="Calibri"/>
                        </a:rPr>
                        <a:t>/bmad-sprint-planning</a:t>
                      </a:r>
                    </a:p>
                  </a:txBody>
                  <a:tcPr anchor="ctr" marT="50800" marB="50800">
                    <a:solidFill>
                      <a:srgbClr val="FFFFFF"/>
                    </a:solidFill>
                  </a:tcPr>
                </a:tc>
                <a:tc>
                  <a:txBody>
                    <a:bodyPr/>
                    <a:lstStyle/>
                    <a:p>
                      <a:r>
                        <a:rPr sz="1150">
                          <a:solidFill>
                            <a:srgbClr val="222A24"/>
                          </a:solidFill>
                          <a:latin typeface="Calibri"/>
                        </a:rPr>
                        <a:t>Generates sprint-status tracking (sprint-status.yaml) from the epics list.</a:t>
                      </a:r>
                    </a:p>
                  </a:txBody>
                  <a:tcPr anchor="ctr" marT="50800" marB="50800">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09</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Prompts Sent to the LLM</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Representative prompts that actually drove each skill, pulled from the project's own session logs</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sp>
        <p:nvSpPr>
          <p:cNvPr id="8" name="Rounded Rectangle 7"/>
          <p:cNvSpPr/>
          <p:nvPr/>
        </p:nvSpPr>
        <p:spPr>
          <a:xfrm>
            <a:off x="502920" y="1600200"/>
            <a:ext cx="11201400" cy="749808"/>
          </a:xfrm>
          <a:prstGeom prst="roundRect">
            <a:avLst>
              <a:gd name="adj" fmla="val 12000"/>
            </a:avLst>
          </a:prstGeom>
          <a:solidFill>
            <a:srgbClr val="F1ECDD"/>
          </a:solidFill>
          <a:ln w="12700">
            <a:solidFill>
              <a:srgbClr val="C99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73352"/>
            <a:ext cx="3246120" cy="548640"/>
          </a:xfrm>
          <a:prstGeom prst="rect">
            <a:avLst/>
          </a:prstGeom>
          <a:noFill/>
        </p:spPr>
        <p:txBody>
          <a:bodyPr wrap="square" anchor="t" lIns="0" rIns="0" tIns="0" bIns="0">
            <a:spAutoFit/>
          </a:bodyPr>
          <a:lstStyle/>
          <a:p>
            <a:pPr algn="l">
              <a:lnSpc>
                <a:spcPct val="100000"/>
              </a:lnSpc>
            </a:pPr>
            <a:r>
              <a:rPr sz="1100" b="1" i="0">
                <a:solidFill>
                  <a:srgbClr val="123D30"/>
                </a:solidFill>
                <a:latin typeface="Consolas"/>
              </a:rPr>
              <a:t>/bmad-cis-agent-brainstorming-coach</a:t>
            </a:r>
          </a:p>
        </p:txBody>
      </p:sp>
      <p:sp>
        <p:nvSpPr>
          <p:cNvPr id="10" name="TextBox 9"/>
          <p:cNvSpPr txBox="1"/>
          <p:nvPr/>
        </p:nvSpPr>
        <p:spPr>
          <a:xfrm>
            <a:off x="4069080" y="1673352"/>
            <a:ext cx="7498079" cy="621792"/>
          </a:xfrm>
          <a:prstGeom prst="rect">
            <a:avLst/>
          </a:prstGeom>
          <a:noFill/>
        </p:spPr>
        <p:txBody>
          <a:bodyPr wrap="square" anchor="t" lIns="0" rIns="0" tIns="0" bIns="0">
            <a:spAutoFit/>
          </a:bodyPr>
          <a:lstStyle/>
          <a:p>
            <a:pPr algn="l">
              <a:lnSpc>
                <a:spcPct val="105000"/>
              </a:lnSpc>
            </a:pPr>
            <a:r>
              <a:rPr sz="1050" b="0" i="1">
                <a:solidFill>
                  <a:srgbClr val="222A24"/>
                </a:solidFill>
                <a:latin typeface="Calibri"/>
              </a:rPr>
              <a:t>“Brainstorm Talent Pool Management capabilities — identify MVP and future-roadmap features: skills dashboard, learning progress tracking, automation replacing Excel, actionable dashboards for HR/employees, enterprise scalability.”</a:t>
            </a:r>
          </a:p>
        </p:txBody>
      </p:sp>
      <p:sp>
        <p:nvSpPr>
          <p:cNvPr id="11" name="Rounded Rectangle 10"/>
          <p:cNvSpPr/>
          <p:nvPr/>
        </p:nvSpPr>
        <p:spPr>
          <a:xfrm>
            <a:off x="502920" y="2441448"/>
            <a:ext cx="11201400" cy="749808"/>
          </a:xfrm>
          <a:prstGeom prst="roundRect">
            <a:avLst>
              <a:gd name="adj" fmla="val 12000"/>
            </a:avLst>
          </a:prstGeom>
          <a:solidFill>
            <a:srgbClr val="F1ECDD"/>
          </a:solidFill>
          <a:ln w="12700">
            <a:solidFill>
              <a:srgbClr val="C99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14600"/>
            <a:ext cx="3246120" cy="548640"/>
          </a:xfrm>
          <a:prstGeom prst="rect">
            <a:avLst/>
          </a:prstGeom>
          <a:noFill/>
        </p:spPr>
        <p:txBody>
          <a:bodyPr wrap="square" anchor="t" lIns="0" rIns="0" tIns="0" bIns="0">
            <a:spAutoFit/>
          </a:bodyPr>
          <a:lstStyle/>
          <a:p>
            <a:pPr algn="l">
              <a:lnSpc>
                <a:spcPct val="100000"/>
              </a:lnSpc>
            </a:pPr>
            <a:r>
              <a:rPr sz="1100" b="1" i="0">
                <a:solidFill>
                  <a:srgbClr val="123D30"/>
                </a:solidFill>
                <a:latin typeface="Consolas"/>
              </a:rPr>
              <a:t>/bmad-market-research + /bmad-domain-research</a:t>
            </a:r>
          </a:p>
        </p:txBody>
      </p:sp>
      <p:sp>
        <p:nvSpPr>
          <p:cNvPr id="13" name="TextBox 12"/>
          <p:cNvSpPr txBox="1"/>
          <p:nvPr/>
        </p:nvSpPr>
        <p:spPr>
          <a:xfrm>
            <a:off x="4069080" y="2514600"/>
            <a:ext cx="7498079" cy="621792"/>
          </a:xfrm>
          <a:prstGeom prst="rect">
            <a:avLst/>
          </a:prstGeom>
          <a:noFill/>
        </p:spPr>
        <p:txBody>
          <a:bodyPr wrap="square" anchor="t" lIns="0" rIns="0" tIns="0" bIns="0">
            <a:spAutoFit/>
          </a:bodyPr>
          <a:lstStyle/>
          <a:p>
            <a:pPr algn="l">
              <a:lnSpc>
                <a:spcPct val="105000"/>
              </a:lnSpc>
            </a:pPr>
            <a:r>
              <a:rPr sz="1050" b="0" i="1">
                <a:solidFill>
                  <a:srgbClr val="222A24"/>
                </a:solidFill>
                <a:latin typeface="Calibri"/>
              </a:rPr>
              <a:t>“Research the AI talent-pool-management platform market” and “research corporate skill-tracking / AI video-learning platforms” — run back-to-back to ground the brief in competitive + industry context.</a:t>
            </a:r>
          </a:p>
        </p:txBody>
      </p:sp>
      <p:sp>
        <p:nvSpPr>
          <p:cNvPr id="14" name="Rounded Rectangle 13"/>
          <p:cNvSpPr/>
          <p:nvPr/>
        </p:nvSpPr>
        <p:spPr>
          <a:xfrm>
            <a:off x="502920" y="3282696"/>
            <a:ext cx="11201400" cy="749808"/>
          </a:xfrm>
          <a:prstGeom prst="roundRect">
            <a:avLst>
              <a:gd name="adj" fmla="val 12000"/>
            </a:avLst>
          </a:prstGeom>
          <a:solidFill>
            <a:srgbClr val="F1ECDD"/>
          </a:solidFill>
          <a:ln w="12700">
            <a:solidFill>
              <a:srgbClr val="C99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55848"/>
            <a:ext cx="3246120" cy="548640"/>
          </a:xfrm>
          <a:prstGeom prst="rect">
            <a:avLst/>
          </a:prstGeom>
          <a:noFill/>
        </p:spPr>
        <p:txBody>
          <a:bodyPr wrap="square" anchor="t" lIns="0" rIns="0" tIns="0" bIns="0">
            <a:spAutoFit/>
          </a:bodyPr>
          <a:lstStyle/>
          <a:p>
            <a:pPr algn="l">
              <a:lnSpc>
                <a:spcPct val="100000"/>
              </a:lnSpc>
            </a:pPr>
            <a:r>
              <a:rPr sz="1100" b="1" i="0">
                <a:solidFill>
                  <a:srgbClr val="123D30"/>
                </a:solidFill>
                <a:latin typeface="Consolas"/>
              </a:rPr>
              <a:t>/bmad-prd</a:t>
            </a:r>
          </a:p>
        </p:txBody>
      </p:sp>
      <p:sp>
        <p:nvSpPr>
          <p:cNvPr id="16" name="TextBox 15"/>
          <p:cNvSpPr txBox="1"/>
          <p:nvPr/>
        </p:nvSpPr>
        <p:spPr>
          <a:xfrm>
            <a:off x="4069080" y="3355848"/>
            <a:ext cx="7498079" cy="621792"/>
          </a:xfrm>
          <a:prstGeom prst="rect">
            <a:avLst/>
          </a:prstGeom>
          <a:noFill/>
        </p:spPr>
        <p:txBody>
          <a:bodyPr wrap="square" anchor="t" lIns="0" rIns="0" tIns="0" bIns="0">
            <a:spAutoFit/>
          </a:bodyPr>
          <a:lstStyle/>
          <a:p>
            <a:pPr algn="l">
              <a:lnSpc>
                <a:spcPct val="105000"/>
              </a:lnSpc>
            </a:pPr>
            <a:r>
              <a:rPr sz="1050" b="0" i="1">
                <a:solidFill>
                  <a:srgbClr val="222A24"/>
                </a:solidFill>
                <a:latin typeface="Calibri"/>
              </a:rPr>
              <a:t>“Draft the PRD from the full existing artifact set — product brief, trigger map, UX scenarios, prototypes, research, PRFAQ — fast path, tag unvalidated inferences as [ASSUMPTION].”</a:t>
            </a:r>
          </a:p>
        </p:txBody>
      </p:sp>
      <p:sp>
        <p:nvSpPr>
          <p:cNvPr id="17" name="Rounded Rectangle 16"/>
          <p:cNvSpPr/>
          <p:nvPr/>
        </p:nvSpPr>
        <p:spPr>
          <a:xfrm>
            <a:off x="502920" y="4123944"/>
            <a:ext cx="11201400" cy="749808"/>
          </a:xfrm>
          <a:prstGeom prst="roundRect">
            <a:avLst>
              <a:gd name="adj" fmla="val 12000"/>
            </a:avLst>
          </a:prstGeom>
          <a:solidFill>
            <a:srgbClr val="F1ECDD"/>
          </a:solidFill>
          <a:ln w="12700">
            <a:solidFill>
              <a:srgbClr val="C99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197096"/>
            <a:ext cx="3246120" cy="548640"/>
          </a:xfrm>
          <a:prstGeom prst="rect">
            <a:avLst/>
          </a:prstGeom>
          <a:noFill/>
        </p:spPr>
        <p:txBody>
          <a:bodyPr wrap="square" anchor="t" lIns="0" rIns="0" tIns="0" bIns="0">
            <a:spAutoFit/>
          </a:bodyPr>
          <a:lstStyle/>
          <a:p>
            <a:pPr algn="l">
              <a:lnSpc>
                <a:spcPct val="100000"/>
              </a:lnSpc>
            </a:pPr>
            <a:r>
              <a:rPr sz="1100" b="1" i="0">
                <a:solidFill>
                  <a:srgbClr val="123D30"/>
                </a:solidFill>
                <a:latin typeface="Consolas"/>
              </a:rPr>
              <a:t>/bmad-agent-architect</a:t>
            </a:r>
          </a:p>
        </p:txBody>
      </p:sp>
      <p:sp>
        <p:nvSpPr>
          <p:cNvPr id="19" name="TextBox 18"/>
          <p:cNvSpPr txBox="1"/>
          <p:nvPr/>
        </p:nvSpPr>
        <p:spPr>
          <a:xfrm>
            <a:off x="4069080" y="4197096"/>
            <a:ext cx="7498079" cy="621792"/>
          </a:xfrm>
          <a:prstGeom prst="rect">
            <a:avLst/>
          </a:prstGeom>
          <a:noFill/>
        </p:spPr>
        <p:txBody>
          <a:bodyPr wrap="square" anchor="t" lIns="0" rIns="0" tIns="0" bIns="0">
            <a:spAutoFit/>
          </a:bodyPr>
          <a:lstStyle/>
          <a:p>
            <a:pPr algn="l">
              <a:lnSpc>
                <a:spcPct val="105000"/>
              </a:lnSpc>
            </a:pPr>
            <a:r>
              <a:rPr sz="1050" b="0" i="1">
                <a:solidFill>
                  <a:srgbClr val="222A24"/>
                </a:solidFill>
                <a:latin typeface="Calibri"/>
              </a:rPr>
              <a:t>“Produce the Architecture Spine and Solution Design for TalentPilot-AI as a modular monolith — React SPA, FastAPI, PostgreSQL+pgvector — zero paid infrastructure, local Docker only.”</a:t>
            </a:r>
          </a:p>
        </p:txBody>
      </p:sp>
      <p:sp>
        <p:nvSpPr>
          <p:cNvPr id="20" name="Rounded Rectangle 19"/>
          <p:cNvSpPr/>
          <p:nvPr/>
        </p:nvSpPr>
        <p:spPr>
          <a:xfrm>
            <a:off x="502920" y="4965192"/>
            <a:ext cx="11201400" cy="749808"/>
          </a:xfrm>
          <a:prstGeom prst="roundRect">
            <a:avLst>
              <a:gd name="adj" fmla="val 12000"/>
            </a:avLst>
          </a:prstGeom>
          <a:solidFill>
            <a:srgbClr val="F1ECDD"/>
          </a:solidFill>
          <a:ln w="12700">
            <a:solidFill>
              <a:srgbClr val="C99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038344"/>
            <a:ext cx="3246120" cy="548640"/>
          </a:xfrm>
          <a:prstGeom prst="rect">
            <a:avLst/>
          </a:prstGeom>
          <a:noFill/>
        </p:spPr>
        <p:txBody>
          <a:bodyPr wrap="square" anchor="t" lIns="0" rIns="0" tIns="0" bIns="0">
            <a:spAutoFit/>
          </a:bodyPr>
          <a:lstStyle/>
          <a:p>
            <a:pPr algn="l">
              <a:lnSpc>
                <a:spcPct val="100000"/>
              </a:lnSpc>
            </a:pPr>
            <a:r>
              <a:rPr sz="1100" b="1" i="0">
                <a:solidFill>
                  <a:srgbClr val="123D30"/>
                </a:solidFill>
                <a:latin typeface="Consolas"/>
              </a:rPr>
              <a:t>/bmad-check-implementation-readiness</a:t>
            </a:r>
          </a:p>
        </p:txBody>
      </p:sp>
      <p:sp>
        <p:nvSpPr>
          <p:cNvPr id="22" name="TextBox 21"/>
          <p:cNvSpPr txBox="1"/>
          <p:nvPr/>
        </p:nvSpPr>
        <p:spPr>
          <a:xfrm>
            <a:off x="4069080" y="5038344"/>
            <a:ext cx="7498079" cy="621792"/>
          </a:xfrm>
          <a:prstGeom prst="rect">
            <a:avLst/>
          </a:prstGeom>
          <a:noFill/>
        </p:spPr>
        <p:txBody>
          <a:bodyPr wrap="square" anchor="t" lIns="0" rIns="0" tIns="0" bIns="0">
            <a:spAutoFit/>
          </a:bodyPr>
          <a:lstStyle/>
          <a:p>
            <a:pPr algn="l">
              <a:lnSpc>
                <a:spcPct val="105000"/>
              </a:lnSpc>
            </a:pPr>
            <a:r>
              <a:rPr sz="1050" b="0" i="1">
                <a:solidFill>
                  <a:srgbClr val="222A24"/>
                </a:solidFill>
                <a:latin typeface="Calibri"/>
              </a:rPr>
              <a:t>“Check implementation readiness” — validate PRD, UX, Architecture, and Epics are complete and internally consistent before any story work begins.</a:t>
            </a:r>
          </a:p>
        </p:txBody>
      </p:sp>
      <p:sp>
        <p:nvSpPr>
          <p:cNvPr id="23" name="Rounded Rectangle 22"/>
          <p:cNvSpPr/>
          <p:nvPr/>
        </p:nvSpPr>
        <p:spPr>
          <a:xfrm>
            <a:off x="502920" y="5806440"/>
            <a:ext cx="11201400" cy="749808"/>
          </a:xfrm>
          <a:prstGeom prst="roundRect">
            <a:avLst>
              <a:gd name="adj" fmla="val 12000"/>
            </a:avLst>
          </a:prstGeom>
          <a:solidFill>
            <a:srgbClr val="F1ECDD"/>
          </a:solidFill>
          <a:ln w="12700">
            <a:solidFill>
              <a:srgbClr val="C99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879592"/>
            <a:ext cx="3246120" cy="548640"/>
          </a:xfrm>
          <a:prstGeom prst="rect">
            <a:avLst/>
          </a:prstGeom>
          <a:noFill/>
        </p:spPr>
        <p:txBody>
          <a:bodyPr wrap="square" anchor="t" lIns="0" rIns="0" tIns="0" bIns="0">
            <a:spAutoFit/>
          </a:bodyPr>
          <a:lstStyle/>
          <a:p>
            <a:pPr algn="l">
              <a:lnSpc>
                <a:spcPct val="100000"/>
              </a:lnSpc>
            </a:pPr>
            <a:r>
              <a:rPr sz="1100" b="1" i="0">
                <a:solidFill>
                  <a:srgbClr val="123D30"/>
                </a:solidFill>
                <a:latin typeface="Consolas"/>
              </a:rPr>
              <a:t>/bmad-sprint-planning</a:t>
            </a:r>
          </a:p>
        </p:txBody>
      </p:sp>
      <p:sp>
        <p:nvSpPr>
          <p:cNvPr id="25" name="TextBox 24"/>
          <p:cNvSpPr txBox="1"/>
          <p:nvPr/>
        </p:nvSpPr>
        <p:spPr>
          <a:xfrm>
            <a:off x="4069080" y="5879592"/>
            <a:ext cx="7498079" cy="621792"/>
          </a:xfrm>
          <a:prstGeom prst="rect">
            <a:avLst/>
          </a:prstGeom>
          <a:noFill/>
        </p:spPr>
        <p:txBody>
          <a:bodyPr wrap="square" anchor="t" lIns="0" rIns="0" tIns="0" bIns="0">
            <a:spAutoFit/>
          </a:bodyPr>
          <a:lstStyle/>
          <a:p>
            <a:pPr algn="l">
              <a:lnSpc>
                <a:spcPct val="105000"/>
              </a:lnSpc>
            </a:pPr>
            <a:r>
              <a:rPr sz="1050" b="0" i="1">
                <a:solidFill>
                  <a:srgbClr val="222A24"/>
                </a:solidFill>
                <a:latin typeface="Calibri"/>
              </a:rPr>
              <a:t>“Run sprint planning” — generate sprint-status.yaml tracking from the finalized epics.md so dev work can be sequenced.</a:t>
            </a:r>
          </a:p>
        </p:txBody>
      </p:sp>
      <p:sp>
        <p:nvSpPr>
          <p:cNvPr id="26" name="TextBox 25"/>
          <p:cNvSpPr txBox="1"/>
          <p:nvPr/>
        </p:nvSpPr>
        <p:spPr>
          <a:xfrm>
            <a:off x="502920" y="6400800"/>
            <a:ext cx="11155680" cy="320040"/>
          </a:xfrm>
          <a:prstGeom prst="rect">
            <a:avLst/>
          </a:prstGeom>
          <a:noFill/>
        </p:spPr>
        <p:txBody>
          <a:bodyPr wrap="square" anchor="t" lIns="0" rIns="0" tIns="0" bIns="0">
            <a:spAutoFit/>
          </a:bodyPr>
          <a:lstStyle/>
          <a:p>
            <a:pPr algn="l">
              <a:lnSpc>
                <a:spcPct val="100000"/>
              </a:lnSpc>
            </a:pPr>
            <a:r>
              <a:rPr sz="950" b="0" i="1">
                <a:solidFill>
                  <a:srgbClr val="5B665E"/>
                </a:solidFill>
                <a:latin typeface="Calibri"/>
              </a:rPr>
              <a:t>Source: .memlog.md session logs under _bmad-output/ — each skill append-logs its own driving decisions and inputs as it runs.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10</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Skills Invoked → Output Folder (1/2)</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Verified against the actual _bmad-output/ directory tree in this repository</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graphicFrame>
        <p:nvGraphicFramePr>
          <p:cNvPr id="8" name="Table 7"/>
          <p:cNvGraphicFramePr>
            <a:graphicFrameLocks noGrp="1"/>
          </p:cNvGraphicFramePr>
          <p:nvPr/>
        </p:nvGraphicFramePr>
        <p:xfrm>
          <a:off x="502920" y="1554480"/>
          <a:ext cx="11201400" cy="4892040"/>
        </p:xfrm>
        <a:graphic>
          <a:graphicData uri="http://schemas.openxmlformats.org/drawingml/2006/table">
            <a:tbl>
              <a:tblPr firstRow="1" bandRow="1">
                <a:tableStyleId>{5C22544A-7EE6-4342-B048-85BDC9FD1C3A}</a:tableStyleId>
              </a:tblPr>
              <a:tblGrid>
                <a:gridCol w="3657600"/>
                <a:gridCol w="7543800"/>
              </a:tblGrid>
              <a:tr h="407670">
                <a:tc>
                  <a:txBody>
                    <a:bodyPr/>
                    <a:lstStyle/>
                    <a:p>
                      <a:pPr algn="l"/>
                      <a:r>
                        <a:rPr b="1" sz="1350">
                          <a:solidFill>
                            <a:srgbClr val="FFFFFF"/>
                          </a:solidFill>
                          <a:latin typeface="Calibri"/>
                        </a:rPr>
                        <a:t>Skill Invoked</a:t>
                      </a:r>
                    </a:p>
                  </a:txBody>
                  <a:tcPr anchor="ctr">
                    <a:solidFill>
                      <a:srgbClr val="123D30"/>
                    </a:solidFill>
                  </a:tcPr>
                </a:tc>
                <a:tc>
                  <a:txBody>
                    <a:bodyPr/>
                    <a:lstStyle/>
                    <a:p>
                      <a:pPr algn="l"/>
                      <a:r>
                        <a:rPr b="1" sz="1350">
                          <a:solidFill>
                            <a:srgbClr val="FFFFFF"/>
                          </a:solidFill>
                          <a:latin typeface="Calibri"/>
                        </a:rPr>
                        <a:t>Output Folder / File (under _bmad-output/)</a:t>
                      </a:r>
                    </a:p>
                  </a:txBody>
                  <a:tcPr anchor="ctr">
                    <a:solidFill>
                      <a:srgbClr val="123D30"/>
                    </a:solidFill>
                  </a:tcPr>
                </a:tc>
              </a:tr>
              <a:tr h="407670">
                <a:tc>
                  <a:txBody>
                    <a:bodyPr/>
                    <a:lstStyle/>
                    <a:p>
                      <a:r>
                        <a:rPr sz="1100">
                          <a:solidFill>
                            <a:srgbClr val="222A24"/>
                          </a:solidFill>
                          <a:latin typeface="Calibri"/>
                        </a:rPr>
                        <a:t>/bmad-cis-agent-brainstorming-coach</a:t>
                      </a:r>
                    </a:p>
                  </a:txBody>
                  <a:tcPr anchor="ctr" marT="50800" marB="50800">
                    <a:solidFill>
                      <a:srgbClr val="FFFFFF"/>
                    </a:solidFill>
                  </a:tcPr>
                </a:tc>
                <a:tc>
                  <a:txBody>
                    <a:bodyPr/>
                    <a:lstStyle/>
                    <a:p>
                      <a:r>
                        <a:rPr sz="1100">
                          <a:solidFill>
                            <a:srgbClr val="222A24"/>
                          </a:solidFill>
                          <a:latin typeface="Calibri"/>
                        </a:rPr>
                        <a:t>_bmad-output/brainstorming/brainstorm-talent-pool-management-capabilities-2026-07-07/</a:t>
                      </a:r>
                    </a:p>
                  </a:txBody>
                  <a:tcPr anchor="ctr" marT="50800" marB="50800">
                    <a:solidFill>
                      <a:srgbClr val="FFFFFF"/>
                    </a:solidFill>
                  </a:tcPr>
                </a:tc>
              </a:tr>
              <a:tr h="407670">
                <a:tc>
                  <a:txBody>
                    <a:bodyPr/>
                    <a:lstStyle/>
                    <a:p>
                      <a:r>
                        <a:rPr sz="1100">
                          <a:solidFill>
                            <a:srgbClr val="222A24"/>
                          </a:solidFill>
                          <a:latin typeface="Calibri"/>
                        </a:rPr>
                        <a:t>/bmad-forge-idea</a:t>
                      </a:r>
                    </a:p>
                  </a:txBody>
                  <a:tcPr anchor="ctr" marT="50800" marB="50800">
                    <a:solidFill>
                      <a:srgbClr val="F1ECDD"/>
                    </a:solidFill>
                  </a:tcPr>
                </a:tc>
                <a:tc>
                  <a:txBody>
                    <a:bodyPr/>
                    <a:lstStyle/>
                    <a:p>
                      <a:r>
                        <a:rPr sz="1100">
                          <a:solidFill>
                            <a:srgbClr val="222A24"/>
                          </a:solidFill>
                          <a:latin typeface="Calibri"/>
                        </a:rPr>
                        <a:t>Not run as a standalone session in this project — no dedicated folder exists</a:t>
                      </a:r>
                    </a:p>
                  </a:txBody>
                  <a:tcPr anchor="ctr" marT="50800" marB="50800">
                    <a:solidFill>
                      <a:srgbClr val="F1ECDD"/>
                    </a:solidFill>
                  </a:tcPr>
                </a:tc>
              </a:tr>
              <a:tr h="407670">
                <a:tc>
                  <a:txBody>
                    <a:bodyPr/>
                    <a:lstStyle/>
                    <a:p>
                      <a:r>
                        <a:rPr sz="1100">
                          <a:solidFill>
                            <a:srgbClr val="222A24"/>
                          </a:solidFill>
                          <a:latin typeface="Calibri"/>
                        </a:rPr>
                        <a:t>/bmad-project-context</a:t>
                      </a:r>
                    </a:p>
                  </a:txBody>
                  <a:tcPr anchor="ctr" marT="50800" marB="50800">
                    <a:solidFill>
                      <a:srgbClr val="FFFFFF"/>
                    </a:solidFill>
                  </a:tcPr>
                </a:tc>
                <a:tc>
                  <a:txBody>
                    <a:bodyPr/>
                    <a:lstStyle/>
                    <a:p>
                      <a:r>
                        <a:rPr sz="1100">
                          <a:solidFill>
                            <a:srgbClr val="222A24"/>
                          </a:solidFill>
                          <a:latin typeface="Calibri"/>
                        </a:rPr>
                        <a:t>_bmad-output/project-context.md</a:t>
                      </a:r>
                    </a:p>
                  </a:txBody>
                  <a:tcPr anchor="ctr" marT="50800" marB="50800">
                    <a:solidFill>
                      <a:srgbClr val="FFFFFF"/>
                    </a:solidFill>
                  </a:tcPr>
                </a:tc>
              </a:tr>
              <a:tr h="407670">
                <a:tc>
                  <a:txBody>
                    <a:bodyPr/>
                    <a:lstStyle/>
                    <a:p>
                      <a:r>
                        <a:rPr sz="1100">
                          <a:solidFill>
                            <a:srgbClr val="222A24"/>
                          </a:solidFill>
                          <a:latin typeface="Calibri"/>
                        </a:rPr>
                        <a:t>/bmad-cis-agent-design-thinking-coach</a:t>
                      </a:r>
                    </a:p>
                  </a:txBody>
                  <a:tcPr anchor="ctr" marT="50800" marB="50800">
                    <a:solidFill>
                      <a:srgbClr val="F1ECDD"/>
                    </a:solidFill>
                  </a:tcPr>
                </a:tc>
                <a:tc>
                  <a:txBody>
                    <a:bodyPr/>
                    <a:lstStyle/>
                    <a:p>
                      <a:r>
                        <a:rPr sz="1100">
                          <a:solidFill>
                            <a:srgbClr val="222A24"/>
                          </a:solidFill>
                          <a:latin typeface="Calibri"/>
                        </a:rPr>
                        <a:t>_bmad-output/design-thinking-2026-07-07.md</a:t>
                      </a:r>
                    </a:p>
                  </a:txBody>
                  <a:tcPr anchor="ctr" marT="50800" marB="50800">
                    <a:solidFill>
                      <a:srgbClr val="F1ECDD"/>
                    </a:solidFill>
                  </a:tcPr>
                </a:tc>
              </a:tr>
              <a:tr h="407670">
                <a:tc>
                  <a:txBody>
                    <a:bodyPr/>
                    <a:lstStyle/>
                    <a:p>
                      <a:r>
                        <a:rPr sz="1100">
                          <a:solidFill>
                            <a:srgbClr val="222A24"/>
                          </a:solidFill>
                          <a:latin typeface="Calibri"/>
                        </a:rPr>
                        <a:t>/bmad-cis-agent-innovation-coach</a:t>
                      </a:r>
                    </a:p>
                  </a:txBody>
                  <a:tcPr anchor="ctr" marT="50800" marB="50800">
                    <a:solidFill>
                      <a:srgbClr val="FFFFFF"/>
                    </a:solidFill>
                  </a:tcPr>
                </a:tc>
                <a:tc>
                  <a:txBody>
                    <a:bodyPr/>
                    <a:lstStyle/>
                    <a:p>
                      <a:r>
                        <a:rPr sz="1100">
                          <a:solidFill>
                            <a:srgbClr val="222A24"/>
                          </a:solidFill>
                          <a:latin typeface="Calibri"/>
                        </a:rPr>
                        <a:t>_bmad-output/innovation-strategy-2026-07-07.md</a:t>
                      </a:r>
                    </a:p>
                  </a:txBody>
                  <a:tcPr anchor="ctr" marT="50800" marB="50800">
                    <a:solidFill>
                      <a:srgbClr val="FFFFFF"/>
                    </a:solidFill>
                  </a:tcPr>
                </a:tc>
              </a:tr>
              <a:tr h="407670">
                <a:tc>
                  <a:txBody>
                    <a:bodyPr/>
                    <a:lstStyle/>
                    <a:p>
                      <a:r>
                        <a:rPr sz="1100">
                          <a:solidFill>
                            <a:srgbClr val="222A24"/>
                          </a:solidFill>
                          <a:latin typeface="Calibri"/>
                        </a:rPr>
                        <a:t>/bmad-market-research</a:t>
                      </a:r>
                    </a:p>
                  </a:txBody>
                  <a:tcPr anchor="ctr" marT="50800" marB="50800">
                    <a:solidFill>
                      <a:srgbClr val="F1ECDD"/>
                    </a:solidFill>
                  </a:tcPr>
                </a:tc>
                <a:tc>
                  <a:txBody>
                    <a:bodyPr/>
                    <a:lstStyle/>
                    <a:p>
                      <a:r>
                        <a:rPr sz="1100">
                          <a:solidFill>
                            <a:srgbClr val="222A24"/>
                          </a:solidFill>
                          <a:latin typeface="Calibri"/>
                        </a:rPr>
                        <a:t>_bmad-output/planning-artifacts/research/market-ai-talent-pool-management-platform-research-2026-07-07.md</a:t>
                      </a:r>
                    </a:p>
                  </a:txBody>
                  <a:tcPr anchor="ctr" marT="50800" marB="50800">
                    <a:solidFill>
                      <a:srgbClr val="F1ECDD"/>
                    </a:solidFill>
                  </a:tcPr>
                </a:tc>
              </a:tr>
              <a:tr h="407670">
                <a:tc>
                  <a:txBody>
                    <a:bodyPr/>
                    <a:lstStyle/>
                    <a:p>
                      <a:r>
                        <a:rPr sz="1100">
                          <a:solidFill>
                            <a:srgbClr val="222A24"/>
                          </a:solidFill>
                          <a:latin typeface="Calibri"/>
                        </a:rPr>
                        <a:t>/bmad-domain-research</a:t>
                      </a:r>
                    </a:p>
                  </a:txBody>
                  <a:tcPr anchor="ctr" marT="50800" marB="50800">
                    <a:solidFill>
                      <a:srgbClr val="FFFFFF"/>
                    </a:solidFill>
                  </a:tcPr>
                </a:tc>
                <a:tc>
                  <a:txBody>
                    <a:bodyPr/>
                    <a:lstStyle/>
                    <a:p>
                      <a:r>
                        <a:rPr sz="1100">
                          <a:solidFill>
                            <a:srgbClr val="222A24"/>
                          </a:solidFill>
                          <a:latin typeface="Calibri"/>
                        </a:rPr>
                        <a:t>_bmad-output/planning-artifacts/research/domain-corporate-skill-tracking-ai-video-learning-platforms-research-2026-07-07.md</a:t>
                      </a:r>
                    </a:p>
                  </a:txBody>
                  <a:tcPr anchor="ctr" marT="50800" marB="50800">
                    <a:solidFill>
                      <a:srgbClr val="FFFFFF"/>
                    </a:solidFill>
                  </a:tcPr>
                </a:tc>
              </a:tr>
              <a:tr h="407670">
                <a:tc>
                  <a:txBody>
                    <a:bodyPr/>
                    <a:lstStyle/>
                    <a:p>
                      <a:r>
                        <a:rPr sz="1100">
                          <a:solidFill>
                            <a:srgbClr val="222A24"/>
                          </a:solidFill>
                          <a:latin typeface="Calibri"/>
                        </a:rPr>
                        <a:t>/bmad-technical-research</a:t>
                      </a:r>
                    </a:p>
                  </a:txBody>
                  <a:tcPr anchor="ctr" marT="50800" marB="50800">
                    <a:solidFill>
                      <a:srgbClr val="F1ECDD"/>
                    </a:solidFill>
                  </a:tcPr>
                </a:tc>
                <a:tc>
                  <a:txBody>
                    <a:bodyPr/>
                    <a:lstStyle/>
                    <a:p>
                      <a:r>
                        <a:rPr sz="1100">
                          <a:solidFill>
                            <a:srgbClr val="222A24"/>
                          </a:solidFill>
                          <a:latin typeface="Calibri"/>
                        </a:rPr>
                        <a:t>_bmad-output/planning-artifacts/research/technical-*-research-2026-07-0{7,8}.md (3 reports)</a:t>
                      </a:r>
                    </a:p>
                  </a:txBody>
                  <a:tcPr anchor="ctr" marT="50800" marB="50800">
                    <a:solidFill>
                      <a:srgbClr val="F1ECDD"/>
                    </a:solidFill>
                  </a:tcPr>
                </a:tc>
              </a:tr>
              <a:tr h="407670">
                <a:tc>
                  <a:txBody>
                    <a:bodyPr/>
                    <a:lstStyle/>
                    <a:p>
                      <a:r>
                        <a:rPr sz="1100">
                          <a:solidFill>
                            <a:srgbClr val="222A24"/>
                          </a:solidFill>
                          <a:latin typeface="Calibri"/>
                        </a:rPr>
                        <a:t>/bmad-product-brief</a:t>
                      </a:r>
                    </a:p>
                  </a:txBody>
                  <a:tcPr anchor="ctr" marT="50800" marB="50800">
                    <a:solidFill>
                      <a:srgbClr val="FFFFFF"/>
                    </a:solidFill>
                  </a:tcPr>
                </a:tc>
                <a:tc>
                  <a:txBody>
                    <a:bodyPr/>
                    <a:lstStyle/>
                    <a:p>
                      <a:r>
                        <a:rPr sz="1100">
                          <a:solidFill>
                            <a:srgbClr val="222A24"/>
                          </a:solidFill>
                          <a:latin typeface="Calibri"/>
                        </a:rPr>
                        <a:t>_bmad-output/planning-artifacts/briefs/brief-TalentPilot-AI-2026-07-08/</a:t>
                      </a:r>
                    </a:p>
                  </a:txBody>
                  <a:tcPr anchor="ctr" marT="50800" marB="50800">
                    <a:solidFill>
                      <a:srgbClr val="FFFFFF"/>
                    </a:solidFill>
                  </a:tcPr>
                </a:tc>
              </a:tr>
              <a:tr h="407670">
                <a:tc>
                  <a:txBody>
                    <a:bodyPr/>
                    <a:lstStyle/>
                    <a:p>
                      <a:r>
                        <a:rPr sz="1100">
                          <a:solidFill>
                            <a:srgbClr val="222A24"/>
                          </a:solidFill>
                          <a:latin typeface="Calibri"/>
                        </a:rPr>
                        <a:t>/bmad-prfaq</a:t>
                      </a:r>
                    </a:p>
                  </a:txBody>
                  <a:tcPr anchor="ctr" marT="50800" marB="50800">
                    <a:solidFill>
                      <a:srgbClr val="F1ECDD"/>
                    </a:solidFill>
                  </a:tcPr>
                </a:tc>
                <a:tc>
                  <a:txBody>
                    <a:bodyPr/>
                    <a:lstStyle/>
                    <a:p>
                      <a:r>
                        <a:rPr sz="1100">
                          <a:solidFill>
                            <a:srgbClr val="222A24"/>
                          </a:solidFill>
                          <a:latin typeface="Calibri"/>
                        </a:rPr>
                        <a:t>_bmad-output/planning-artifacts/prfaq-TalentPilot-AI.md (+ -distillate.md)</a:t>
                      </a:r>
                    </a:p>
                  </a:txBody>
                  <a:tcPr anchor="ctr" marT="50800" marB="50800">
                    <a:solidFill>
                      <a:srgbClr val="F1ECDD"/>
                    </a:solidFill>
                  </a:tcPr>
                </a:tc>
              </a:tr>
              <a:tr h="407670">
                <a:tc>
                  <a:txBody>
                    <a:bodyPr/>
                    <a:lstStyle/>
                    <a:p>
                      <a:r>
                        <a:rPr sz="1100">
                          <a:solidFill>
                            <a:srgbClr val="222A24"/>
                          </a:solidFill>
                          <a:latin typeface="Calibri"/>
                        </a:rPr>
                        <a:t>/wds-1-project-brief</a:t>
                      </a:r>
                    </a:p>
                  </a:txBody>
                  <a:tcPr anchor="ctr" marT="50800" marB="50800">
                    <a:solidFill>
                      <a:srgbClr val="FFFFFF"/>
                    </a:solidFill>
                  </a:tcPr>
                </a:tc>
                <a:tc>
                  <a:txBody>
                    <a:bodyPr/>
                    <a:lstStyle/>
                    <a:p>
                      <a:r>
                        <a:rPr sz="1100">
                          <a:solidFill>
                            <a:srgbClr val="222A24"/>
                          </a:solidFill>
                          <a:latin typeface="Calibri"/>
                        </a:rPr>
                        <a:t>_bmad-output/A-Product-Brief/  (project-brief.md + dialog/)</a:t>
                      </a:r>
                    </a:p>
                  </a:txBody>
                  <a:tcPr anchor="ctr" marT="50800" marB="50800">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6000"/>
            <a:lum/>
          </a:blip>
          <a:srcRect/>
          <a:stretch>
            <a:fillRect/>
          </a:stretch>
        </a:blipFill>
        <a:effectLst/>
      </p:bgPr>
    </p:bg>
    <p:spTree>
      <p:nvGrpSpPr>
        <p:cNvPr id="1" name=""/>
        <p:cNvGrpSpPr/>
        <p:nvPr/>
      </p:nvGrpSpPr>
      <p:grpSpPr/>
      <p:sp>
        <p:nvSpPr>
          <p:cNvPr id="2" name="Rectangle 1"/>
          <p:cNvSpPr/>
          <p:nvPr/>
        </p:nvSpPr>
        <p:spPr>
          <a:xfrm>
            <a:off x="0" y="0"/>
            <a:ext cx="12191695" cy="1051560"/>
          </a:xfrm>
          <a:prstGeom prst="rect">
            <a:avLst/>
          </a:prstGeom>
          <a:solidFill>
            <a:srgbClr val="12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371600" cy="365760"/>
          </a:xfrm>
          <a:prstGeom prst="rect">
            <a:avLst/>
          </a:prstGeom>
          <a:noFill/>
        </p:spPr>
        <p:txBody>
          <a:bodyPr wrap="square" anchor="t" lIns="0" rIns="0" tIns="0" bIns="0">
            <a:spAutoFit/>
          </a:bodyPr>
          <a:lstStyle/>
          <a:p>
            <a:pPr algn="l">
              <a:lnSpc>
                <a:spcPct val="100000"/>
              </a:lnSpc>
            </a:pPr>
            <a:r>
              <a:rPr sz="1500" b="1" i="0">
                <a:solidFill>
                  <a:srgbClr val="4FB093"/>
                </a:solidFill>
                <a:latin typeface="Calibri"/>
              </a:rPr>
              <a:t>11</a:t>
            </a:r>
          </a:p>
        </p:txBody>
      </p:sp>
      <p:sp>
        <p:nvSpPr>
          <p:cNvPr id="5" name="TextBox 4"/>
          <p:cNvSpPr txBox="1"/>
          <p:nvPr/>
        </p:nvSpPr>
        <p:spPr>
          <a:xfrm>
            <a:off x="502920" y="420624"/>
            <a:ext cx="10515600" cy="594360"/>
          </a:xfrm>
          <a:prstGeom prst="rect">
            <a:avLst/>
          </a:prstGeom>
          <a:noFill/>
        </p:spPr>
        <p:txBody>
          <a:bodyPr wrap="square" anchor="t" lIns="0" rIns="0" tIns="0" bIns="0">
            <a:spAutoFit/>
          </a:bodyPr>
          <a:lstStyle/>
          <a:p>
            <a:pPr algn="l">
              <a:lnSpc>
                <a:spcPct val="100000"/>
              </a:lnSpc>
            </a:pPr>
            <a:r>
              <a:rPr sz="2800" b="1" i="0">
                <a:solidFill>
                  <a:srgbClr val="FFFFFF"/>
                </a:solidFill>
                <a:latin typeface="Georgia"/>
              </a:rPr>
              <a:t>Skills Invoked → Output Folder (2/2)</a:t>
            </a:r>
          </a:p>
        </p:txBody>
      </p:sp>
      <p:sp>
        <p:nvSpPr>
          <p:cNvPr id="6" name="TextBox 5"/>
          <p:cNvSpPr txBox="1"/>
          <p:nvPr/>
        </p:nvSpPr>
        <p:spPr>
          <a:xfrm>
            <a:off x="502920" y="1170432"/>
            <a:ext cx="10972800" cy="365760"/>
          </a:xfrm>
          <a:prstGeom prst="rect">
            <a:avLst/>
          </a:prstGeom>
          <a:noFill/>
        </p:spPr>
        <p:txBody>
          <a:bodyPr wrap="square" anchor="t" lIns="0" rIns="0" tIns="0" bIns="0">
            <a:spAutoFit/>
          </a:bodyPr>
          <a:lstStyle/>
          <a:p>
            <a:pPr algn="l">
              <a:lnSpc>
                <a:spcPct val="100000"/>
              </a:lnSpc>
            </a:pPr>
            <a:r>
              <a:rPr sz="1300" b="0" i="1">
                <a:solidFill>
                  <a:srgbClr val="5B665E"/>
                </a:solidFill>
                <a:latin typeface="Calibri"/>
              </a:rPr>
              <a:t>Continued — design delivery through sprint execution</a:t>
            </a:r>
          </a:p>
        </p:txBody>
      </p:sp>
      <p:sp>
        <p:nvSpPr>
          <p:cNvPr id="7" name="TextBox 6"/>
          <p:cNvSpPr txBox="1"/>
          <p:nvPr/>
        </p:nvSpPr>
        <p:spPr>
          <a:xfrm>
            <a:off x="502920" y="6528816"/>
            <a:ext cx="5486400" cy="274320"/>
          </a:xfrm>
          <a:prstGeom prst="rect">
            <a:avLst/>
          </a:prstGeom>
          <a:noFill/>
        </p:spPr>
        <p:txBody>
          <a:bodyPr wrap="square" anchor="t" lIns="0" rIns="0" tIns="0" bIns="0">
            <a:spAutoFit/>
          </a:bodyPr>
          <a:lstStyle/>
          <a:p>
            <a:pPr algn="l">
              <a:lnSpc>
                <a:spcPct val="100000"/>
              </a:lnSpc>
            </a:pPr>
            <a:r>
              <a:rPr sz="900" b="0" i="0">
                <a:solidFill>
                  <a:srgbClr val="5B665E"/>
                </a:solidFill>
                <a:latin typeface="Calibri"/>
              </a:rPr>
              <a:t>TalentPilot-AI · SAILS Software Internal Pilot</a:t>
            </a:r>
          </a:p>
        </p:txBody>
      </p:sp>
      <p:graphicFrame>
        <p:nvGraphicFramePr>
          <p:cNvPr id="8" name="Table 7"/>
          <p:cNvGraphicFramePr>
            <a:graphicFrameLocks noGrp="1"/>
          </p:cNvGraphicFramePr>
          <p:nvPr/>
        </p:nvGraphicFramePr>
        <p:xfrm>
          <a:off x="502920" y="1554480"/>
          <a:ext cx="11201400" cy="4892040"/>
        </p:xfrm>
        <a:graphic>
          <a:graphicData uri="http://schemas.openxmlformats.org/drawingml/2006/table">
            <a:tbl>
              <a:tblPr firstRow="1" bandRow="1">
                <a:tableStyleId>{5C22544A-7EE6-4342-B048-85BDC9FD1C3A}</a:tableStyleId>
              </a:tblPr>
              <a:tblGrid>
                <a:gridCol w="3657600"/>
                <a:gridCol w="7543800"/>
              </a:tblGrid>
              <a:tr h="407670">
                <a:tc>
                  <a:txBody>
                    <a:bodyPr/>
                    <a:lstStyle/>
                    <a:p>
                      <a:pPr algn="l"/>
                      <a:r>
                        <a:rPr b="1" sz="1350">
                          <a:solidFill>
                            <a:srgbClr val="FFFFFF"/>
                          </a:solidFill>
                          <a:latin typeface="Calibri"/>
                        </a:rPr>
                        <a:t>Skill Invoked</a:t>
                      </a:r>
                    </a:p>
                  </a:txBody>
                  <a:tcPr anchor="ctr">
                    <a:solidFill>
                      <a:srgbClr val="123D30"/>
                    </a:solidFill>
                  </a:tcPr>
                </a:tc>
                <a:tc>
                  <a:txBody>
                    <a:bodyPr/>
                    <a:lstStyle/>
                    <a:p>
                      <a:pPr algn="l"/>
                      <a:r>
                        <a:rPr b="1" sz="1350">
                          <a:solidFill>
                            <a:srgbClr val="FFFFFF"/>
                          </a:solidFill>
                          <a:latin typeface="Calibri"/>
                        </a:rPr>
                        <a:t>Output Folder / File (under _bmad-output/)</a:t>
                      </a:r>
                    </a:p>
                  </a:txBody>
                  <a:tcPr anchor="ctr">
                    <a:solidFill>
                      <a:srgbClr val="123D30"/>
                    </a:solidFill>
                  </a:tcPr>
                </a:tc>
              </a:tr>
              <a:tr h="407670">
                <a:tc>
                  <a:txBody>
                    <a:bodyPr/>
                    <a:lstStyle/>
                    <a:p>
                      <a:r>
                        <a:rPr sz="1100">
                          <a:solidFill>
                            <a:srgbClr val="222A24"/>
                          </a:solidFill>
                          <a:latin typeface="Calibri"/>
                        </a:rPr>
                        <a:t>/wds-2-trigger-mapping</a:t>
                      </a:r>
                    </a:p>
                  </a:txBody>
                  <a:tcPr anchor="ctr" marT="50800" marB="50800">
                    <a:solidFill>
                      <a:srgbClr val="FFFFFF"/>
                    </a:solidFill>
                  </a:tcPr>
                </a:tc>
                <a:tc>
                  <a:txBody>
                    <a:bodyPr/>
                    <a:lstStyle/>
                    <a:p>
                      <a:r>
                        <a:rPr sz="1100">
                          <a:solidFill>
                            <a:srgbClr val="222A24"/>
                          </a:solidFill>
                          <a:latin typeface="Calibri"/>
                        </a:rPr>
                        <a:t>_bmad-output/B-Trigger-Map/</a:t>
                      </a:r>
                    </a:p>
                  </a:txBody>
                  <a:tcPr anchor="ctr" marT="50800" marB="50800">
                    <a:solidFill>
                      <a:srgbClr val="FFFFFF"/>
                    </a:solidFill>
                  </a:tcPr>
                </a:tc>
              </a:tr>
              <a:tr h="407670">
                <a:tc>
                  <a:txBody>
                    <a:bodyPr/>
                    <a:lstStyle/>
                    <a:p>
                      <a:r>
                        <a:rPr sz="1100">
                          <a:solidFill>
                            <a:srgbClr val="222A24"/>
                          </a:solidFill>
                          <a:latin typeface="Calibri"/>
                        </a:rPr>
                        <a:t>/wds-3-scenarious</a:t>
                      </a:r>
                    </a:p>
                  </a:txBody>
                  <a:tcPr anchor="ctr" marT="50800" marB="50800">
                    <a:solidFill>
                      <a:srgbClr val="F1ECDD"/>
                    </a:solidFill>
                  </a:tcPr>
                </a:tc>
                <a:tc>
                  <a:txBody>
                    <a:bodyPr/>
                    <a:lstStyle/>
                    <a:p>
                      <a:r>
                        <a:rPr sz="1100">
                          <a:solidFill>
                            <a:srgbClr val="222A24"/>
                          </a:solidFill>
                          <a:latin typeface="Calibri"/>
                        </a:rPr>
                        <a:t>_bmad-output/C-UX-Scenarios/</a:t>
                      </a:r>
                    </a:p>
                  </a:txBody>
                  <a:tcPr anchor="ctr" marT="50800" marB="50800">
                    <a:solidFill>
                      <a:srgbClr val="F1ECDD"/>
                    </a:solidFill>
                  </a:tcPr>
                </a:tc>
              </a:tr>
              <a:tr h="407670">
                <a:tc>
                  <a:txBody>
                    <a:bodyPr/>
                    <a:lstStyle/>
                    <a:p>
                      <a:r>
                        <a:rPr sz="1100">
                          <a:solidFill>
                            <a:srgbClr val="222A24"/>
                          </a:solidFill>
                          <a:latin typeface="Calibri"/>
                        </a:rPr>
                        <a:t>/wds-ux-design</a:t>
                      </a:r>
                    </a:p>
                  </a:txBody>
                  <a:tcPr anchor="ctr" marT="50800" marB="50800">
                    <a:solidFill>
                      <a:srgbClr val="FFFFFF"/>
                    </a:solidFill>
                  </a:tcPr>
                </a:tc>
                <a:tc>
                  <a:txBody>
                    <a:bodyPr/>
                    <a:lstStyle/>
                    <a:p>
                      <a:r>
                        <a:rPr sz="1100">
                          <a:solidFill>
                            <a:srgbClr val="222A24"/>
                          </a:solidFill>
                          <a:latin typeface="Calibri"/>
                        </a:rPr>
                        <a:t>_bmad-output/deliveries/  (DD-001-poc-hypothesis-flows.yaml, TS-001-*.yaml)</a:t>
                      </a:r>
                    </a:p>
                  </a:txBody>
                  <a:tcPr anchor="ctr" marT="50800" marB="50800">
                    <a:solidFill>
                      <a:srgbClr val="FFFFFF"/>
                    </a:solidFill>
                  </a:tcPr>
                </a:tc>
              </a:tr>
              <a:tr h="407670">
                <a:tc>
                  <a:txBody>
                    <a:bodyPr/>
                    <a:lstStyle/>
                    <a:p>
                      <a:r>
                        <a:rPr sz="1100">
                          <a:solidFill>
                            <a:srgbClr val="222A24"/>
                          </a:solidFill>
                          <a:latin typeface="Calibri"/>
                        </a:rPr>
                        <a:t>/wds-agentic-development</a:t>
                      </a:r>
                    </a:p>
                  </a:txBody>
                  <a:tcPr anchor="ctr" marT="50800" marB="50800">
                    <a:solidFill>
                      <a:srgbClr val="F1ECDD"/>
                    </a:solidFill>
                  </a:tcPr>
                </a:tc>
                <a:tc>
                  <a:txBody>
                    <a:bodyPr/>
                    <a:lstStyle/>
                    <a:p>
                      <a:r>
                        <a:rPr sz="1100">
                          <a:solidFill>
                            <a:srgbClr val="222A24"/>
                          </a:solidFill>
                          <a:latin typeface="Calibri"/>
                        </a:rPr>
                        <a:t>_bmad-output/E-Development/  (3 prototype folders: stories/, work/, HTML pages)</a:t>
                      </a:r>
                    </a:p>
                  </a:txBody>
                  <a:tcPr anchor="ctr" marT="50800" marB="50800">
                    <a:solidFill>
                      <a:srgbClr val="F1ECDD"/>
                    </a:solidFill>
                  </a:tcPr>
                </a:tc>
              </a:tr>
              <a:tr h="407670">
                <a:tc>
                  <a:txBody>
                    <a:bodyPr/>
                    <a:lstStyle/>
                    <a:p>
                      <a:r>
                        <a:rPr sz="1100">
                          <a:solidFill>
                            <a:srgbClr val="222A24"/>
                          </a:solidFill>
                          <a:latin typeface="Calibri"/>
                        </a:rPr>
                        <a:t>/bmad-prd</a:t>
                      </a:r>
                    </a:p>
                  </a:txBody>
                  <a:tcPr anchor="ctr" marT="50800" marB="50800">
                    <a:solidFill>
                      <a:srgbClr val="FFFFFF"/>
                    </a:solidFill>
                  </a:tcPr>
                </a:tc>
                <a:tc>
                  <a:txBody>
                    <a:bodyPr/>
                    <a:lstStyle/>
                    <a:p>
                      <a:r>
                        <a:rPr sz="1100">
                          <a:solidFill>
                            <a:srgbClr val="222A24"/>
                          </a:solidFill>
                          <a:latin typeface="Calibri"/>
                        </a:rPr>
                        <a:t>_bmad-output/planning-artifacts/prds/prd-TalentPilot-AI-2026-07-09/</a:t>
                      </a:r>
                    </a:p>
                  </a:txBody>
                  <a:tcPr anchor="ctr" marT="50800" marB="50800">
                    <a:solidFill>
                      <a:srgbClr val="FFFFFF"/>
                    </a:solidFill>
                  </a:tcPr>
                </a:tc>
              </a:tr>
              <a:tr h="407670">
                <a:tc>
                  <a:txBody>
                    <a:bodyPr/>
                    <a:lstStyle/>
                    <a:p>
                      <a:r>
                        <a:rPr sz="1100">
                          <a:solidFill>
                            <a:srgbClr val="222A24"/>
                          </a:solidFill>
                          <a:latin typeface="Calibri"/>
                        </a:rPr>
                        <a:t>/bmad-agent-architect</a:t>
                      </a:r>
                    </a:p>
                  </a:txBody>
                  <a:tcPr anchor="ctr" marT="50800" marB="50800">
                    <a:solidFill>
                      <a:srgbClr val="F1ECDD"/>
                    </a:solidFill>
                  </a:tcPr>
                </a:tc>
                <a:tc>
                  <a:txBody>
                    <a:bodyPr/>
                    <a:lstStyle/>
                    <a:p>
                      <a:r>
                        <a:rPr sz="1100">
                          <a:solidFill>
                            <a:srgbClr val="222A24"/>
                          </a:solidFill>
                          <a:latin typeface="Calibri"/>
                        </a:rPr>
                        <a:t>_bmad-output/planning-artifacts/architecture/architecture-TalentPilot-AI-2026-07-09/</a:t>
                      </a:r>
                    </a:p>
                  </a:txBody>
                  <a:tcPr anchor="ctr" marT="50800" marB="50800">
                    <a:solidFill>
                      <a:srgbClr val="F1ECDD"/>
                    </a:solidFill>
                  </a:tcPr>
                </a:tc>
              </a:tr>
              <a:tr h="407670">
                <a:tc>
                  <a:txBody>
                    <a:bodyPr/>
                    <a:lstStyle/>
                    <a:p>
                      <a:r>
                        <a:rPr sz="1100">
                          <a:solidFill>
                            <a:srgbClr val="222A24"/>
                          </a:solidFill>
                          <a:latin typeface="Calibri"/>
                        </a:rPr>
                        <a:t>/bmad-project-context (re-run)</a:t>
                      </a:r>
                    </a:p>
                  </a:txBody>
                  <a:tcPr anchor="ctr" marT="50800" marB="50800">
                    <a:solidFill>
                      <a:srgbClr val="FFFFFF"/>
                    </a:solidFill>
                  </a:tcPr>
                </a:tc>
                <a:tc>
                  <a:txBody>
                    <a:bodyPr/>
                    <a:lstStyle/>
                    <a:p>
                      <a:r>
                        <a:rPr sz="1100">
                          <a:solidFill>
                            <a:srgbClr val="222A24"/>
                          </a:solidFill>
                          <a:latin typeface="Calibri"/>
                        </a:rPr>
                        <a:t>_bmad-output/project-context.md  (updated in place)</a:t>
                      </a:r>
                    </a:p>
                  </a:txBody>
                  <a:tcPr anchor="ctr" marT="50800" marB="50800">
                    <a:solidFill>
                      <a:srgbClr val="FFFFFF"/>
                    </a:solidFill>
                  </a:tcPr>
                </a:tc>
              </a:tr>
              <a:tr h="407670">
                <a:tc>
                  <a:txBody>
                    <a:bodyPr/>
                    <a:lstStyle/>
                    <a:p>
                      <a:r>
                        <a:rPr sz="1100">
                          <a:solidFill>
                            <a:srgbClr val="222A24"/>
                          </a:solidFill>
                          <a:latin typeface="Calibri"/>
                        </a:rPr>
                        <a:t>/bmad-check-implementation-readiness</a:t>
                      </a:r>
                    </a:p>
                  </a:txBody>
                  <a:tcPr anchor="ctr" marT="50800" marB="50800">
                    <a:solidFill>
                      <a:srgbClr val="F1ECDD"/>
                    </a:solidFill>
                  </a:tcPr>
                </a:tc>
                <a:tc>
                  <a:txBody>
                    <a:bodyPr/>
                    <a:lstStyle/>
                    <a:p>
                      <a:r>
                        <a:rPr sz="1100">
                          <a:solidFill>
                            <a:srgbClr val="222A24"/>
                          </a:solidFill>
                          <a:latin typeface="Calibri"/>
                        </a:rPr>
                        <a:t>_bmad-output/IMPLEMENTATION-READINESS-INDEX.md, READINESS-SUMMARY-2026-07-09.md</a:t>
                      </a:r>
                    </a:p>
                  </a:txBody>
                  <a:tcPr anchor="ctr" marT="50800" marB="50800">
                    <a:solidFill>
                      <a:srgbClr val="F1ECDD"/>
                    </a:solidFill>
                  </a:tcPr>
                </a:tc>
              </a:tr>
              <a:tr h="407670">
                <a:tc>
                  <a:txBody>
                    <a:bodyPr/>
                    <a:lstStyle/>
                    <a:p>
                      <a:r>
                        <a:rPr sz="1100">
                          <a:solidFill>
                            <a:srgbClr val="222A24"/>
                          </a:solidFill>
                          <a:latin typeface="Calibri"/>
                        </a:rPr>
                        <a:t>/bmad-agent-pm</a:t>
                      </a:r>
                    </a:p>
                  </a:txBody>
                  <a:tcPr anchor="ctr" marT="50800" marB="50800">
                    <a:solidFill>
                      <a:srgbClr val="FFFFFF"/>
                    </a:solidFill>
                  </a:tcPr>
                </a:tc>
                <a:tc>
                  <a:txBody>
                    <a:bodyPr/>
                    <a:lstStyle/>
                    <a:p>
                      <a:r>
                        <a:rPr sz="1100">
                          <a:solidFill>
                            <a:srgbClr val="222A24"/>
                          </a:solidFill>
                          <a:latin typeface="Calibri"/>
                        </a:rPr>
                        <a:t>_bmad-output/planning-artifacts/epics.md</a:t>
                      </a:r>
                    </a:p>
                  </a:txBody>
                  <a:tcPr anchor="ctr" marT="50800" marB="50800">
                    <a:solidFill>
                      <a:srgbClr val="FFFFFF"/>
                    </a:solidFill>
                  </a:tcPr>
                </a:tc>
              </a:tr>
              <a:tr h="407670">
                <a:tc>
                  <a:txBody>
                    <a:bodyPr/>
                    <a:lstStyle/>
                    <a:p>
                      <a:r>
                        <a:rPr sz="1100">
                          <a:solidFill>
                            <a:srgbClr val="222A24"/>
                          </a:solidFill>
                          <a:latin typeface="Calibri"/>
                        </a:rPr>
                        <a:t>/bmad-agent-dev</a:t>
                      </a:r>
                    </a:p>
                  </a:txBody>
                  <a:tcPr anchor="ctr" marT="50800" marB="50800">
                    <a:solidFill>
                      <a:srgbClr val="F1ECDD"/>
                    </a:solidFill>
                  </a:tcPr>
                </a:tc>
                <a:tc>
                  <a:txBody>
                    <a:bodyPr/>
                    <a:lstStyle/>
                    <a:p>
                      <a:r>
                        <a:rPr sz="1100">
                          <a:solidFill>
                            <a:srgbClr val="222A24"/>
                          </a:solidFill>
                          <a:latin typeface="Calibri"/>
                        </a:rPr>
                        <a:t>_bmad-output/implementation-artifacts/  (per-story implementation notes)</a:t>
                      </a:r>
                    </a:p>
                  </a:txBody>
                  <a:tcPr anchor="ctr" marT="50800" marB="50800">
                    <a:solidFill>
                      <a:srgbClr val="F1ECDD"/>
                    </a:solidFill>
                  </a:tcPr>
                </a:tc>
              </a:tr>
              <a:tr h="407670">
                <a:tc>
                  <a:txBody>
                    <a:bodyPr/>
                    <a:lstStyle/>
                    <a:p>
                      <a:r>
                        <a:rPr sz="1100">
                          <a:solidFill>
                            <a:srgbClr val="222A24"/>
                          </a:solidFill>
                          <a:latin typeface="Calibri"/>
                        </a:rPr>
                        <a:t>/bmad-sprint-planning</a:t>
                      </a:r>
                    </a:p>
                  </a:txBody>
                  <a:tcPr anchor="ctr" marT="50800" marB="50800">
                    <a:solidFill>
                      <a:srgbClr val="FFFFFF"/>
                    </a:solidFill>
                  </a:tcPr>
                </a:tc>
                <a:tc>
                  <a:txBody>
                    <a:bodyPr/>
                    <a:lstStyle/>
                    <a:p>
                      <a:r>
                        <a:rPr sz="1100">
                          <a:solidFill>
                            <a:srgbClr val="222A24"/>
                          </a:solidFill>
                          <a:latin typeface="Calibri"/>
                        </a:rPr>
                        <a:t>_bmad-output/implementation-artifacts/sprint-status.yaml</a:t>
                      </a:r>
                    </a:p>
                  </a:txBody>
                  <a:tcPr anchor="ctr" marT="50800" marB="50800">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1000"/>
            <a:lum/>
          </a:blip>
          <a:srcRect/>
          <a:stretch>
            <a:fillRect/>
          </a:stretch>
        </a:blipFill>
        <a:effectLst/>
      </p:bgPr>
    </p:bg>
    <p:spTree>
      <p:nvGrpSpPr>
        <p:cNvPr id="1" name=""/>
        <p:cNvGrpSpPr/>
        <p:nvPr/>
      </p:nvGrpSpPr>
      <p:grpSpPr/>
      <p:pic>
        <p:nvPicPr>
          <p:cNvPr id="2" name="Picture 1" descr="sails_logo.png"/>
          <p:cNvPicPr>
            <a:picLocks noChangeAspect="1"/>
          </p:cNvPicPr>
          <p:nvPr/>
        </p:nvPicPr>
        <p:blipFill>
          <a:blip r:embed="rId3"/>
          <a:stretch>
            <a:fillRect/>
          </a:stretch>
        </p:blipFill>
        <p:spPr>
          <a:xfrm>
            <a:off x="5148072" y="1417320"/>
            <a:ext cx="2043953" cy="868680"/>
          </a:xfrm>
          <a:prstGeom prst="rect">
            <a:avLst/>
          </a:prstGeom>
        </p:spPr>
      </p:pic>
      <p:sp>
        <p:nvSpPr>
          <p:cNvPr id="3" name="Rectangle 2"/>
          <p:cNvSpPr/>
          <p:nvPr/>
        </p:nvSpPr>
        <p:spPr>
          <a:xfrm>
            <a:off x="0" y="6309360"/>
            <a:ext cx="12191695" cy="3810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88920"/>
            <a:ext cx="10515600" cy="914400"/>
          </a:xfrm>
          <a:prstGeom prst="rect">
            <a:avLst/>
          </a:prstGeom>
          <a:noFill/>
        </p:spPr>
        <p:txBody>
          <a:bodyPr wrap="square" anchor="t" lIns="0" rIns="0" tIns="0" bIns="0">
            <a:spAutoFit/>
          </a:bodyPr>
          <a:lstStyle/>
          <a:p>
            <a:pPr algn="ctr">
              <a:lnSpc>
                <a:spcPct val="100000"/>
              </a:lnSpc>
            </a:pPr>
            <a:r>
              <a:rPr sz="4400" b="1" i="0">
                <a:solidFill>
                  <a:srgbClr val="123D30"/>
                </a:solidFill>
                <a:latin typeface="Georgia"/>
              </a:rPr>
              <a:t>Thank you</a:t>
            </a:r>
          </a:p>
        </p:txBody>
      </p:sp>
      <p:sp>
        <p:nvSpPr>
          <p:cNvPr id="5" name="TextBox 4"/>
          <p:cNvSpPr txBox="1"/>
          <p:nvPr/>
        </p:nvSpPr>
        <p:spPr>
          <a:xfrm>
            <a:off x="731520" y="3703320"/>
            <a:ext cx="10515600" cy="548640"/>
          </a:xfrm>
          <a:prstGeom prst="rect">
            <a:avLst/>
          </a:prstGeom>
          <a:noFill/>
        </p:spPr>
        <p:txBody>
          <a:bodyPr wrap="square" anchor="t" lIns="0" rIns="0" tIns="0" bIns="0">
            <a:spAutoFit/>
          </a:bodyPr>
          <a:lstStyle/>
          <a:p>
            <a:pPr algn="ctr">
              <a:lnSpc>
                <a:spcPct val="100000"/>
              </a:lnSpc>
            </a:pPr>
            <a:r>
              <a:rPr sz="1400" b="0" i="0">
                <a:solidFill>
                  <a:srgbClr val="1B5442"/>
                </a:solidFill>
                <a:latin typeface="Calibri"/>
              </a:rPr>
              <a:t>Source documents: brief.md · prd.md · ARCHITECTURE-SPINE.md · SOLUTION-DESIGN.md · epics.md</a:t>
            </a:r>
          </a:p>
        </p:txBody>
      </p:sp>
      <p:sp>
        <p:nvSpPr>
          <p:cNvPr id="6" name="TextBox 5"/>
          <p:cNvSpPr txBox="1"/>
          <p:nvPr/>
        </p:nvSpPr>
        <p:spPr>
          <a:xfrm>
            <a:off x="731520" y="4160520"/>
            <a:ext cx="10515600" cy="457200"/>
          </a:xfrm>
          <a:prstGeom prst="rect">
            <a:avLst/>
          </a:prstGeom>
          <a:noFill/>
        </p:spPr>
        <p:txBody>
          <a:bodyPr wrap="square" anchor="t" lIns="0" rIns="0" tIns="0" bIns="0">
            <a:spAutoFit/>
          </a:bodyPr>
          <a:lstStyle/>
          <a:p>
            <a:pPr algn="ctr">
              <a:lnSpc>
                <a:spcPct val="100000"/>
              </a:lnSpc>
            </a:pPr>
            <a:r>
              <a:rPr sz="1200" b="0" i="1">
                <a:solidFill>
                  <a:srgbClr val="5B665E"/>
                </a:solidFill>
                <a:latin typeface="Calibri"/>
              </a:rPr>
              <a:t>All sourced from _bmad-output/ in the project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